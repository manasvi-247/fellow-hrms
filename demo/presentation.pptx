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51aebf7-cf75-fd11-763e-6af36913c8c8}">
          <p14:sldIdLst>
            <p14:sldId id="256"/>
            <p14:sldId id="257"/>
          </p14:sldIdLst>
        </p14:section>
        <p14:section name="Product" id="{81215416-cdc0-9824-b11a-e902a1e92ae8}">
          <p14:sldIdLst>
            <p14:sldId id="258"/>
            <p14:sldId id="259"/>
          </p14:sldIdLst>
        </p14:section>
        <p14:section name="Platform" id="{8dab6386-c7f0-2a1b-1293-33d0cce0a436}">
          <p14:sldIdLst>
            <p14:sldId id="260"/>
            <p14:sldId id="261"/>
            <p14:sldId id="262"/>
            <p14:sldId id="263"/>
          </p14:sldIdLst>
        </p14:section>
        <p14:section name="Operate" id="{6716a67f-a58a-74ca-298a-1ebb1b2aac2f}">
          <p14:sldIdLst>
            <p14:sldId id="264"/>
            <p14:sldId id="265"/>
          </p14:sldIdLst>
        </p14:section>
        <p14:section name="Wrap up" id="{71517370-95ab-0597-24c6-5846a1cf4bcd}">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 am Manasvi. This is Fellow, an employee management app, and more importantly the full DevOps pipeline around it: from code to a monitored Kubernetes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Fellow is the application I built. It manages employees, departments, leave and attendance. The dashboard is wired to the real FastAPI backend and PostgreSQL, nothing is mocked.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feature areas. The interesting rules live in the backend: leave days skip weekends and holidays, balances are checked on apply, nobody can approve their own leave, and check-in time comes from the server so it cannot be faked.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grouped by job: build the app, verify it, ship it, run it, and observe it. Every tool here is actually wired into the pipeline, not just listed.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browser hits the ingress controller. Slash goes to the React frontend, slash api goes to FastAPI. The backend autoscales from 2 to 6 pods, Postgres runs as a StatefulSet, Prometheus scrapes metrics, Grafana visualises them, and Argo CD keeps the cluster in sync with Git. Terraform created the network and the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push runs tests first, so broken code never becomes an image. Images are scanned by Trivy and the build fails on HIGH or CRITICAL CVEs. Images are tagged with the commit SHA, then a bot commits that tag to Git and Argo CD deploys it. That is GitOps: Git is the source of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describes the AWS network: a VPC with two public and two private subnets, NAT and routing, plus EKS behind a switch. LocalStack emulates AWS locally so nothing is billed, and the same code runs on real AWS by flipping one variable. Terraform also creates the kind cluster, so destroy really tears everything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Helm chart runs both environments. Migrations run once under a database lock, pods run as non-root, and the HPA scaled the backend from 2 to 6 pods during the load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FastAPI exposes Prometheus metrics. A ServiceMonitor tells Prometheus to scrape both backend pods, and the dashboard shipped inside the Helm chart shows traffic, errors, latency percentiles, CPU, memory and HPA replicas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scanning was not a checkbox: Trivy actually failed the first build on a Starlette denial-of-service CVE. A code review found ten bugs, all fixed with tests. And the troubleshooting labs reproduce the two classic Kubernetes failures: a bad image tag and a Service whose selector matches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lessons: gate early, let Git drive deploys, measure before tuning, and treat security as a pipeline step rather than a phase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live demo: a push, the pipeline, Argo CD syncing staging, and the metrics moving in Grafana.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1F2A3C"/>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6B6475"/>
                </a:solidFill>
                <a:latin typeface="Calibri" pitchFamily="34" charset="0"/>
                <a:ea typeface="Calibri" pitchFamily="34" charset="-122"/>
                <a:cs typeface="Calibri" pitchFamily="34" charset="-120"/>
              </a:rPr>
              <a:t>Fellow  ·  DevOps capstone</a:t>
            </a:r>
            <a:endParaRPr lang="en-US" sz="1000" dirty="0"/>
          </a:p>
        </p:txBody>
      </p:sp>
      <p:sp>
        <p:nvSpPr>
          <p:cNvPr id="25" name="Slide Number Placeholder 0"/>
          <p:cNvSpPr>
            <a:spLocks noGrp="1"/>
          </p:cNvSpPr>
          <p:nvPr>
            <p:ph type="sldNum" sz="quarter" idx="4294967295"/>
          </p:nvPr>
        </p:nvSpPr>
        <p:spPr>
          <a:xfrm>
            <a:off x="112471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6475"/>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Blush">
    <p:bg>
      <p:bgPr>
        <a:solidFill>
          <a:srgbClr val="FFF1F3"/>
        </a:solidFill>
      </p:bgPr>
    </p:bg>
    <p:spTree>
      <p:nvGrpSpPr>
        <p:cNvPr id="1" name=""/>
        <p:cNvGrpSpPr/>
        <p:nvPr/>
      </p:nvGrpSpPr>
      <p:grpSpPr>
        <a:xfrm>
          <a:off x="0" y="0"/>
          <a:ext cx="0" cy="0"/>
          <a:chOff x="0" y="0"/>
          <a:chExt cx="0" cy="0"/>
        </a:xfrm>
      </p:grpSpPr>
      <p:sp>
        <p:nvSpPr>
          <p:cNvPr id="2" name="Text 0"/>
          <p:cNvSpPr/>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6B6475"/>
                </a:solidFill>
                <a:latin typeface="Calibri" pitchFamily="34" charset="0"/>
                <a:ea typeface="Calibri" pitchFamily="34" charset="-122"/>
                <a:cs typeface="Calibri" pitchFamily="34" charset="-120"/>
              </a:rPr>
              <a:t>Fellow  ·  DevOps capstone</a:t>
            </a:r>
            <a:endParaRPr lang="en-US" sz="1000" dirty="0"/>
          </a:p>
        </p:txBody>
      </p:sp>
      <p:sp>
        <p:nvSpPr>
          <p:cNvPr id="25" name="Slide Number Placeholder 0"/>
          <p:cNvSpPr>
            <a:spLocks noGrp="1"/>
          </p:cNvSpPr>
          <p:nvPr>
            <p:ph type="sldNum" sz="quarter" idx="4294967295"/>
          </p:nvPr>
        </p:nvSpPr>
        <p:spPr>
          <a:xfrm>
            <a:off x="112471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6475"/>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Dark">
    <p:bg>
      <p:bgPr>
        <a:solidFill>
          <a:srgbClr val="1F2A3C"/>
        </a:solidFill>
      </p:bgPr>
    </p:bg>
    <p:spTree>
      <p:nvGrpSpPr>
        <p:cNvPr id="1" name=""/>
        <p:cNvGrpSpPr/>
        <p:nvPr/>
      </p:nvGrpSpPr>
      <p:grpSpPr>
        <a:xfrm>
          <a:off x="0" y="0"/>
          <a:ext cx="0" cy="0"/>
          <a:chOff x="0" y="0"/>
          <a:chExt cx="0" cy="0"/>
        </a:xfrm>
      </p:grpSpPr>
      <p:sp>
        <p:nvSpPr>
          <p:cNvPr id="2" name="Text 0"/>
          <p:cNvSpPr/>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AEB8C8"/>
                </a:solidFill>
                <a:latin typeface="Calibri" pitchFamily="34" charset="0"/>
                <a:ea typeface="Calibri" pitchFamily="34" charset="-122"/>
                <a:cs typeface="Calibri" pitchFamily="34" charset="-120"/>
              </a:rPr>
              <a:t>Fellow  ·  DevOps capstone</a:t>
            </a:r>
            <a:endParaRPr lang="en-US" sz="1000" dirty="0"/>
          </a:p>
        </p:txBody>
      </p:sp>
      <p:sp>
        <p:nvSpPr>
          <p:cNvPr id="25" name="Slide Number Placeholder 0"/>
          <p:cNvSpPr>
            <a:spLocks noGrp="1"/>
          </p:cNvSpPr>
          <p:nvPr>
            <p:ph type="sldNum" sz="quarter" idx="4294967295"/>
          </p:nvPr>
        </p:nvSpPr>
        <p:spPr>
          <a:xfrm>
            <a:off x="112471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AEB8C8"/>
                </a:solidFill>
                <a:latin typeface="Calibri"/>
                <a:ea typeface="Calibri"/>
                <a:cs typeface="Calibri"/>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647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4.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5.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4.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Frosted panel"/>
          <p:cNvSpPr/>
          <p:nvPr/>
        </p:nvSpPr>
        <p:spPr>
          <a:xfrm>
            <a:off x="411480" y="411480"/>
            <a:ext cx="5989320" cy="6035040"/>
          </a:xfrm>
          <a:prstGeom prst="roundRect">
            <a:avLst>
              <a:gd name="adj" fmla="val 4580"/>
            </a:avLst>
          </a:prstGeom>
          <a:solidFill>
            <a:srgbClr val="FFFFFF">
              <a:alpha val="55000"/>
            </a:srgbClr>
          </a:solidFill>
          <a:ln w="12700">
            <a:solidFill>
              <a:srgbClr val="FFFFFF"/>
            </a:solidFill>
            <a:prstDash val="solid"/>
          </a:ln>
        </p:spPr>
      </p:sp>
      <p:sp>
        <p:nvSpPr>
          <p:cNvPr id="3" name="Logo"/>
          <p:cNvSpPr/>
          <p:nvPr/>
        </p:nvSpPr>
        <p:spPr>
          <a:xfrm>
            <a:off x="777240" y="777240"/>
            <a:ext cx="623621" cy="271577"/>
          </a:xfrm>
          <a:prstGeom prst="roundRect">
            <a:avLst>
              <a:gd name="adj" fmla="val 48148"/>
            </a:avLst>
          </a:prstGeom>
          <a:solidFill>
            <a:srgbClr val="8F80E8"/>
          </a:solidFill>
          <a:ln w="12700">
            <a:solidFill>
              <a:srgbClr val="8F80E8"/>
            </a:solidFill>
            <a:prstDash val="solid"/>
          </a:ln>
        </p:spPr>
      </p:sp>
      <p:sp>
        <p:nvSpPr>
          <p:cNvPr id="4" name="Logo"/>
          <p:cNvSpPr/>
          <p:nvPr/>
        </p:nvSpPr>
        <p:spPr>
          <a:xfrm>
            <a:off x="777240" y="777240"/>
            <a:ext cx="271577" cy="754380"/>
          </a:xfrm>
          <a:prstGeom prst="roundRect">
            <a:avLst>
              <a:gd name="adj" fmla="val 48148"/>
            </a:avLst>
          </a:prstGeom>
          <a:solidFill>
            <a:srgbClr val="8F80E8"/>
          </a:solidFill>
          <a:ln w="12700">
            <a:solidFill>
              <a:srgbClr val="8F80E8"/>
            </a:solidFill>
            <a:prstDash val="solid"/>
          </a:ln>
        </p:spPr>
      </p:sp>
      <p:sp>
        <p:nvSpPr>
          <p:cNvPr id="5" name="Logo"/>
          <p:cNvSpPr/>
          <p:nvPr/>
        </p:nvSpPr>
        <p:spPr>
          <a:xfrm>
            <a:off x="777240" y="1089050"/>
            <a:ext cx="271577" cy="442570"/>
          </a:xfrm>
          <a:prstGeom prst="roundRect">
            <a:avLst>
              <a:gd name="adj" fmla="val 48148"/>
            </a:avLst>
          </a:prstGeom>
          <a:solidFill>
            <a:srgbClr val="4B3BA0"/>
          </a:solidFill>
          <a:ln w="12700">
            <a:solidFill>
              <a:srgbClr val="4B3BA0"/>
            </a:solidFill>
            <a:prstDash val="solid"/>
          </a:ln>
        </p:spPr>
      </p:sp>
      <p:sp>
        <p:nvSpPr>
          <p:cNvPr id="6" name="Logo"/>
          <p:cNvSpPr/>
          <p:nvPr/>
        </p:nvSpPr>
        <p:spPr>
          <a:xfrm>
            <a:off x="1109167" y="1129284"/>
            <a:ext cx="231343" cy="231343"/>
          </a:xfrm>
          <a:prstGeom prst="ellipse">
            <a:avLst/>
          </a:prstGeom>
          <a:solidFill>
            <a:srgbClr val="A99CF0"/>
          </a:solidFill>
          <a:ln w="12700">
            <a:solidFill>
              <a:srgbClr val="A99CF0"/>
            </a:solidFill>
            <a:prstDash val="solid"/>
          </a:ln>
        </p:spPr>
      </p:sp>
      <p:sp>
        <p:nvSpPr>
          <p:cNvPr id="7" name="Title"/>
          <p:cNvSpPr txBox="1"/>
          <p:nvPr/>
        </p:nvSpPr>
        <p:spPr>
          <a:xfrm>
            <a:off x="731520" y="1783080"/>
            <a:ext cx="5486400" cy="1371600"/>
          </a:xfrm>
          <a:prstGeom prst="rect">
            <a:avLst/>
          </a:prstGeom>
          <a:noFill/>
          <a:ln/>
        </p:spPr>
        <p:txBody>
          <a:bodyPr wrap="square" lIns="0" tIns="0" rIns="0" bIns="0" rtlCol="0" anchor="ctr"/>
          <a:lstStyle/>
          <a:p>
            <a:pPr indent="0" marL="0">
              <a:buNone/>
            </a:pPr>
            <a:r>
              <a:rPr lang="en-US" sz="9200" b="1" dirty="0">
                <a:solidFill>
                  <a:srgbClr val="1B1A24"/>
                </a:solidFill>
                <a:latin typeface="Roboto Mono" pitchFamily="34" charset="0"/>
                <a:ea typeface="Roboto Mono" pitchFamily="34" charset="-122"/>
                <a:cs typeface="Roboto Mono" pitchFamily="34" charset="-120"/>
              </a:rPr>
              <a:t>Fellow</a:t>
            </a:r>
            <a:endParaRPr lang="en-US" sz="9200" dirty="0"/>
          </a:p>
        </p:txBody>
      </p:sp>
      <p:sp>
        <p:nvSpPr>
          <p:cNvPr id="8" name="Text 6"/>
          <p:cNvSpPr txBox="1"/>
          <p:nvPr/>
        </p:nvSpPr>
        <p:spPr>
          <a:xfrm>
            <a:off x="777240" y="3154680"/>
            <a:ext cx="5486400" cy="502920"/>
          </a:xfrm>
          <a:prstGeom prst="rect">
            <a:avLst/>
          </a:prstGeom>
          <a:noFill/>
          <a:ln/>
        </p:spPr>
        <p:txBody>
          <a:bodyPr wrap="square" lIns="0" tIns="0" rIns="0" bIns="0" rtlCol="0" anchor="ctr"/>
          <a:lstStyle/>
          <a:p>
            <a:pPr indent="0" marL="0">
              <a:buNone/>
            </a:pPr>
            <a:r>
              <a:rPr lang="en-US" sz="2000" b="1" dirty="0">
                <a:solidFill>
                  <a:srgbClr val="4B3BA0"/>
                </a:solidFill>
                <a:latin typeface="Roboto Mono" pitchFamily="34" charset="0"/>
                <a:ea typeface="Roboto Mono" pitchFamily="34" charset="-122"/>
                <a:cs typeface="Roboto Mono" pitchFamily="34" charset="-120"/>
              </a:rPr>
              <a:t>an HR app, shipped the DevOps way</a:t>
            </a:r>
            <a:endParaRPr lang="en-US" sz="2000" dirty="0"/>
          </a:p>
        </p:txBody>
      </p:sp>
      <p:sp>
        <p:nvSpPr>
          <p:cNvPr id="9" name="Text 7"/>
          <p:cNvSpPr txBox="1"/>
          <p:nvPr/>
        </p:nvSpPr>
        <p:spPr>
          <a:xfrm>
            <a:off x="777240" y="3840480"/>
            <a:ext cx="5303520" cy="914400"/>
          </a:xfrm>
          <a:prstGeom prst="rect">
            <a:avLst/>
          </a:prstGeom>
          <a:noFill/>
          <a:ln/>
        </p:spPr>
        <p:txBody>
          <a:bodyPr wrap="square" lIns="0" tIns="0" rIns="0" bIns="0" rtlCol="0" anchor="ctr"/>
          <a:lstStyle/>
          <a:p>
            <a:pPr indent="0" marL="0">
              <a:buNone/>
            </a:pPr>
            <a:r>
              <a:rPr lang="en-US" sz="1500" dirty="0">
                <a:solidFill>
                  <a:srgbClr val="1B1A24"/>
                </a:solidFill>
              </a:rPr>
              <a:t>From a React screen to a monitored Kubernetes deployment: tested, scanned, containerised, provisioned with Terraform and delivered through GitOps.</a:t>
            </a:r>
            <a:endParaRPr lang="en-US" sz="1500" dirty="0"/>
          </a:p>
        </p:txBody>
      </p:sp>
      <p:sp>
        <p:nvSpPr>
          <p:cNvPr id="10" name="Text 8"/>
          <p:cNvSpPr txBox="1"/>
          <p:nvPr/>
        </p:nvSpPr>
        <p:spPr>
          <a:xfrm>
            <a:off x="777240" y="5166360"/>
            <a:ext cx="1920240" cy="347472"/>
          </a:xfrm>
          <a:prstGeom prst="roundRect">
            <a:avLst>
              <a:gd name="adj" fmla="val 131579"/>
            </a:avLst>
          </a:prstGeom>
          <a:solidFill>
            <a:srgbClr val="1F2A3C"/>
          </a:solidFill>
          <a:ln>
            <a:solidFill>
              <a:srgbClr val="1F2A3C"/>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DEVOPS CAPSTONE</a:t>
            </a:r>
            <a:endParaRPr lang="en-US" sz="1100" dirty="0"/>
          </a:p>
        </p:txBody>
      </p:sp>
      <p:sp>
        <p:nvSpPr>
          <p:cNvPr id="11" name="Text 9"/>
          <p:cNvSpPr txBox="1"/>
          <p:nvPr/>
        </p:nvSpPr>
        <p:spPr>
          <a:xfrm>
            <a:off x="2816352" y="5166360"/>
            <a:ext cx="1143000" cy="347472"/>
          </a:xfrm>
          <a:prstGeom prst="roundRect">
            <a:avLst>
              <a:gd name="adj" fmla="val 131579"/>
            </a:avLst>
          </a:prstGeom>
          <a:solidFill>
            <a:srgbClr val="1F2A3C"/>
          </a:solidFill>
          <a:ln>
            <a:solidFill>
              <a:srgbClr val="1F2A3C"/>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OCT 2026</a:t>
            </a:r>
            <a:endParaRPr lang="en-US" sz="1100" dirty="0"/>
          </a:p>
        </p:txBody>
      </p:sp>
      <p:sp>
        <p:nvSpPr>
          <p:cNvPr id="12" name="Text 10"/>
          <p:cNvSpPr txBox="1"/>
          <p:nvPr/>
        </p:nvSpPr>
        <p:spPr>
          <a:xfrm>
            <a:off x="777240" y="5715000"/>
            <a:ext cx="4572000" cy="365760"/>
          </a:xfrm>
          <a:prstGeom prst="rect">
            <a:avLst/>
          </a:prstGeom>
          <a:noFill/>
          <a:ln/>
        </p:spPr>
        <p:txBody>
          <a:bodyPr wrap="square" lIns="0" tIns="0" rIns="0" bIns="0" rtlCol="0" anchor="ctr"/>
          <a:lstStyle/>
          <a:p>
            <a:pPr indent="0" marL="0">
              <a:buNone/>
            </a:pPr>
            <a:r>
              <a:rPr lang="en-US" sz="1600" b="1" dirty="0">
                <a:solidFill>
                  <a:srgbClr val="1B1A24"/>
                </a:solidFill>
              </a:rPr>
              <a:t>Manasvi Sabbarwal</a:t>
            </a:r>
            <a:endParaRPr lang="en-US" sz="1600" dirty="0"/>
          </a:p>
        </p:txBody>
      </p:sp>
      <p:sp>
        <p:nvSpPr>
          <p:cNvPr id="13" name="Browser frame"/>
          <p:cNvSpPr/>
          <p:nvPr/>
        </p:nvSpPr>
        <p:spPr>
          <a:xfrm>
            <a:off x="6739128" y="1088136"/>
            <a:ext cx="5084064" cy="2871216"/>
          </a:xfrm>
          <a:prstGeom prst="roundRect">
            <a:avLst>
              <a:gd name="adj" fmla="val 4459"/>
            </a:avLst>
          </a:prstGeom>
          <a:solidFill>
            <a:srgbClr val="F4F3F6"/>
          </a:solidFill>
          <a:ln w="9525">
            <a:solidFill>
              <a:srgbClr val="E6E3EA"/>
            </a:solidFill>
            <a:prstDash val="solid"/>
          </a:ln>
          <a:effectLst>
            <a:outerShdw sx="100000" sy="100000" kx="0" ky="0" algn="bl" rotWithShape="0" blurRad="177800" dist="63500" dir="5400000">
              <a:srgbClr val="1B1A24">
                <a:alpha val="16000"/>
              </a:srgbClr>
            </a:outerShdw>
          </a:effectLst>
        </p:spPr>
      </p:sp>
      <p:sp>
        <p:nvSpPr>
          <p:cNvPr id="14" name="Window dot"/>
          <p:cNvSpPr/>
          <p:nvPr/>
        </p:nvSpPr>
        <p:spPr>
          <a:xfrm>
            <a:off x="6885432" y="1197864"/>
            <a:ext cx="109728" cy="109728"/>
          </a:xfrm>
          <a:prstGeom prst="ellipse">
            <a:avLst/>
          </a:prstGeom>
          <a:solidFill>
            <a:srgbClr val="FF5F57"/>
          </a:solidFill>
          <a:ln w="12700">
            <a:solidFill>
              <a:srgbClr val="FF5F57"/>
            </a:solidFill>
            <a:prstDash val="solid"/>
          </a:ln>
        </p:spPr>
      </p:sp>
      <p:sp>
        <p:nvSpPr>
          <p:cNvPr id="15" name="Window dot"/>
          <p:cNvSpPr/>
          <p:nvPr/>
        </p:nvSpPr>
        <p:spPr>
          <a:xfrm>
            <a:off x="7068312" y="1197864"/>
            <a:ext cx="109728" cy="109728"/>
          </a:xfrm>
          <a:prstGeom prst="ellipse">
            <a:avLst/>
          </a:prstGeom>
          <a:solidFill>
            <a:srgbClr val="FEBC2E"/>
          </a:solidFill>
          <a:ln w="12700">
            <a:solidFill>
              <a:srgbClr val="FEBC2E"/>
            </a:solidFill>
            <a:prstDash val="solid"/>
          </a:ln>
        </p:spPr>
      </p:sp>
      <p:sp>
        <p:nvSpPr>
          <p:cNvPr id="16" name="Window dot"/>
          <p:cNvSpPr/>
          <p:nvPr/>
        </p:nvSpPr>
        <p:spPr>
          <a:xfrm>
            <a:off x="7251192" y="1197864"/>
            <a:ext cx="109728" cy="109728"/>
          </a:xfrm>
          <a:prstGeom prst="ellipse">
            <a:avLst/>
          </a:prstGeom>
          <a:solidFill>
            <a:srgbClr val="28C840"/>
          </a:solidFill>
          <a:ln w="12700">
            <a:solidFill>
              <a:srgbClr val="28C840"/>
            </a:solidFill>
            <a:prstDash val="solid"/>
          </a:ln>
        </p:spPr>
      </p:sp>
      <p:pic>
        <p:nvPicPr>
          <p:cNvPr id="17" name="Image 0" descr="Screenshot of the running Fellow stack">    </p:cNvPr>
          <p:cNvPicPr>
            <a:picLocks noChangeAspect="1"/>
          </p:cNvPicPr>
          <p:nvPr/>
        </p:nvPicPr>
        <p:blipFill>
          <a:blip r:embed="rId2"/>
          <a:stretch>
            <a:fillRect/>
          </a:stretch>
        </p:blipFill>
        <p:spPr>
          <a:xfrm>
            <a:off x="6812280" y="1417320"/>
            <a:ext cx="4937760" cy="2468880"/>
          </a:xfrm>
          <a:prstGeom prst="rect">
            <a:avLst/>
          </a:prstGeom>
        </p:spPr>
      </p:pic>
      <p:sp>
        <p:nvSpPr>
          <p:cNvPr id="18" name="Sticker frame"/>
          <p:cNvSpPr/>
          <p:nvPr/>
        </p:nvSpPr>
        <p:spPr>
          <a:xfrm>
            <a:off x="9966960" y="3291840"/>
            <a:ext cx="1508760" cy="2971800"/>
          </a:xfrm>
          <a:prstGeom prst="roundRect">
            <a:avLst>
              <a:gd name="adj" fmla="val 10909"/>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pic>
        <p:nvPicPr>
          <p:cNvPr id="19" name="Image 1" descr="Illustration">    </p:cNvPr>
          <p:cNvPicPr>
            <a:picLocks noChangeAspect="1"/>
          </p:cNvPicPr>
          <p:nvPr/>
        </p:nvPicPr>
        <p:blipFill>
          <a:blip r:embed="rId3"/>
          <a:stretch>
            <a:fillRect/>
          </a:stretch>
        </p:blipFill>
        <p:spPr>
          <a:xfrm>
            <a:off x="10040112" y="3364992"/>
            <a:ext cx="1362456" cy="2825496"/>
          </a:xfrm>
          <a:prstGeom prst="rect">
            <a:avLst/>
          </a:prstGeom>
        </p:spPr>
      </p:pic>
      <p:sp>
        <p:nvSpPr>
          <p:cNvPr id="20" name="Sparkle"/>
          <p:cNvSpPr/>
          <p:nvPr/>
        </p:nvSpPr>
        <p:spPr>
          <a:xfrm>
            <a:off x="6537960" y="868680"/>
            <a:ext cx="329184" cy="329184"/>
          </a:xfrm>
          <a:prstGeom prst="star4">
            <a:avLst/>
          </a:prstGeom>
          <a:solidFill>
            <a:srgbClr val="F2C14E"/>
          </a:solidFill>
          <a:ln w="12700">
            <a:solidFill>
              <a:srgbClr val="F2C14E"/>
            </a:solidFill>
            <a:prstDash val="solid"/>
          </a:ln>
        </p:spPr>
      </p:sp>
      <p:sp>
        <p:nvSpPr>
          <p:cNvPr id="21" name="Sparkle"/>
          <p:cNvSpPr/>
          <p:nvPr/>
        </p:nvSpPr>
        <p:spPr>
          <a:xfrm>
            <a:off x="11521440" y="777240"/>
            <a:ext cx="219456" cy="219456"/>
          </a:xfrm>
          <a:prstGeom prst="star4">
            <a:avLst/>
          </a:prstGeom>
          <a:solidFill>
            <a:srgbClr val="FFFFFF"/>
          </a:solidFill>
          <a:ln w="12700">
            <a:solidFill>
              <a:srgbClr val="FFFFF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28600"/>
            <a:ext cx="5486400" cy="274320"/>
          </a:xfrm>
          <a:prstGeom prst="rect">
            <a:avLst/>
          </a:prstGeom>
          <a:noFill/>
          <a:ln/>
        </p:spPr>
        <p:txBody>
          <a:bodyPr wrap="square" lIns="0" tIns="0" rIns="0" bIns="0" rtlCol="0" anchor="ctr"/>
          <a:lstStyle/>
          <a:p>
            <a:pPr indent="0" marL="0">
              <a:buNone/>
            </a:pPr>
            <a:r>
              <a:rPr lang="en-US" sz="1100" b="1" spc="300" kern="0" dirty="0">
                <a:solidFill>
                  <a:srgbClr val="2E7A8C"/>
                </a:solidFill>
                <a:latin typeface="Calibri" pitchFamily="34" charset="0"/>
                <a:ea typeface="Calibri" pitchFamily="34" charset="-122"/>
                <a:cs typeface="Calibri" pitchFamily="34" charset="-120"/>
              </a:rPr>
              <a:t>THE PROJECT</a:t>
            </a:r>
            <a:endParaRPr lang="en-US" sz="1100" dirty="0"/>
          </a:p>
        </p:txBody>
      </p:sp>
      <p:sp>
        <p:nvSpPr>
          <p:cNvPr id="3" name="Title"/>
          <p:cNvSpPr txBox="1"/>
          <p:nvPr/>
        </p:nvSpPr>
        <p:spPr>
          <a:xfrm>
            <a:off x="548640" y="411480"/>
            <a:ext cx="7772400" cy="822960"/>
          </a:xfrm>
          <a:prstGeom prst="rect">
            <a:avLst/>
          </a:prstGeom>
          <a:noFill/>
          <a:ln/>
        </p:spPr>
        <p:txBody>
          <a:bodyPr wrap="square" lIns="0" tIns="0" rIns="0" bIns="0" rtlCol="0" anchor="ctr"/>
          <a:lstStyle/>
          <a:p>
            <a:pPr indent="0" marL="0">
              <a:buNone/>
            </a:pPr>
            <a:r>
              <a:rPr lang="en-US" sz="3200" b="1" dirty="0">
                <a:solidFill>
                  <a:srgbClr val="1B1A24"/>
                </a:solidFill>
                <a:latin typeface="Roboto Mono" pitchFamily="34" charset="0"/>
                <a:ea typeface="Roboto Mono" pitchFamily="34" charset="-122"/>
                <a:cs typeface="Roboto Mono" pitchFamily="34" charset="-120"/>
              </a:rPr>
              <a:t>Meet </a:t>
            </a:r>
            <a:pPr indent="0" marL="0">
              <a:buNone/>
            </a:pPr>
            <a:r>
              <a:rPr lang="en-US" sz="3200" b="1" dirty="0">
                <a:solidFill>
                  <a:srgbClr val="2E7A8C"/>
                </a:solidFill>
                <a:latin typeface="Roboto Mono" pitchFamily="34" charset="0"/>
                <a:ea typeface="Roboto Mono" pitchFamily="34" charset="-122"/>
                <a:cs typeface="Roboto Mono" pitchFamily="34" charset="-120"/>
              </a:rPr>
              <a:t>Fellow</a:t>
            </a:r>
            <a:endParaRPr lang="en-US" sz="3200" dirty="0"/>
          </a:p>
        </p:txBody>
      </p:sp>
      <p:sp>
        <p:nvSpPr>
          <p:cNvPr id="4" name="Text 2"/>
          <p:cNvSpPr txBox="1"/>
          <p:nvPr/>
        </p:nvSpPr>
        <p:spPr>
          <a:xfrm>
            <a:off x="548640" y="1417320"/>
            <a:ext cx="4023360" cy="1463040"/>
          </a:xfrm>
          <a:prstGeom prst="rect">
            <a:avLst/>
          </a:prstGeom>
          <a:noFill/>
          <a:ln/>
        </p:spPr>
        <p:txBody>
          <a:bodyPr wrap="square" lIns="0" tIns="0" rIns="0" bIns="0" rtlCol="0" anchor="t"/>
          <a:lstStyle/>
          <a:p>
            <a:pPr indent="0" marL="0">
              <a:buNone/>
            </a:pPr>
            <a:r>
              <a:rPr lang="en-US" sz="1500" dirty="0">
                <a:solidFill>
                  <a:srgbClr val="1B1A24"/>
                </a:solidFill>
              </a:rPr>
              <a:t>A lightweight HR workspace for a 20 to 200 person company. People, departments, leave and attendance live in one place, with a dashboard that answers "who is in today?" at a glance.</a:t>
            </a:r>
            <a:endParaRPr lang="en-US" sz="1500" dirty="0"/>
          </a:p>
        </p:txBody>
      </p:sp>
      <p:sp>
        <p:nvSpPr>
          <p:cNvPr id="5" name="Text 3"/>
          <p:cNvSpPr txBox="1"/>
          <p:nvPr/>
        </p:nvSpPr>
        <p:spPr>
          <a:xfrm>
            <a:off x="548640" y="3063240"/>
            <a:ext cx="1188720" cy="731520"/>
          </a:xfrm>
          <a:prstGeom prst="rect">
            <a:avLst/>
          </a:prstGeom>
          <a:noFill/>
          <a:ln/>
        </p:spPr>
        <p:txBody>
          <a:bodyPr wrap="square" lIns="0" tIns="0" rIns="0" bIns="0" rtlCol="0" anchor="ctr"/>
          <a:lstStyle/>
          <a:p>
            <a:pPr indent="0" marL="0">
              <a:buNone/>
            </a:pPr>
            <a:r>
              <a:rPr lang="en-US" sz="4400" dirty="0">
                <a:solidFill>
                  <a:srgbClr val="2E7A8C"/>
                </a:solidFill>
                <a:latin typeface="Roboto Mono" pitchFamily="34" charset="0"/>
                <a:ea typeface="Roboto Mono" pitchFamily="34" charset="-122"/>
                <a:cs typeface="Roboto Mono" pitchFamily="34" charset="-120"/>
              </a:rPr>
              <a:t>25</a:t>
            </a:r>
            <a:endParaRPr lang="en-US" sz="4400" dirty="0"/>
          </a:p>
        </p:txBody>
      </p:sp>
      <p:sp>
        <p:nvSpPr>
          <p:cNvPr id="6" name="Text 4"/>
          <p:cNvSpPr txBox="1"/>
          <p:nvPr/>
        </p:nvSpPr>
        <p:spPr>
          <a:xfrm>
            <a:off x="1783080" y="3063240"/>
            <a:ext cx="2743200" cy="731520"/>
          </a:xfrm>
          <a:prstGeom prst="rect">
            <a:avLst/>
          </a:prstGeom>
          <a:noFill/>
          <a:ln/>
        </p:spPr>
        <p:txBody>
          <a:bodyPr wrap="square" lIns="0" tIns="0" rIns="0" bIns="0" rtlCol="0" anchor="ctr"/>
          <a:lstStyle/>
          <a:p>
            <a:pPr indent="0" marL="0">
              <a:buNone/>
            </a:pPr>
            <a:r>
              <a:rPr lang="en-US" sz="1500" dirty="0">
                <a:solidFill>
                  <a:srgbClr val="6B6475"/>
                </a:solidFill>
              </a:rPr>
              <a:t>REST endpoints</a:t>
            </a:r>
            <a:endParaRPr lang="en-US" sz="1500" dirty="0"/>
          </a:p>
        </p:txBody>
      </p:sp>
      <p:sp>
        <p:nvSpPr>
          <p:cNvPr id="7" name="Text 5"/>
          <p:cNvSpPr txBox="1"/>
          <p:nvPr/>
        </p:nvSpPr>
        <p:spPr>
          <a:xfrm>
            <a:off x="548640" y="4023360"/>
            <a:ext cx="1188720" cy="731520"/>
          </a:xfrm>
          <a:prstGeom prst="rect">
            <a:avLst/>
          </a:prstGeom>
          <a:noFill/>
          <a:ln/>
        </p:spPr>
        <p:txBody>
          <a:bodyPr wrap="square" lIns="0" tIns="0" rIns="0" bIns="0" rtlCol="0" anchor="ctr"/>
          <a:lstStyle/>
          <a:p>
            <a:pPr indent="0" marL="0">
              <a:buNone/>
            </a:pPr>
            <a:r>
              <a:rPr lang="en-US" sz="4400" dirty="0">
                <a:solidFill>
                  <a:srgbClr val="2E7A8C"/>
                </a:solidFill>
                <a:latin typeface="Roboto Mono" pitchFamily="34" charset="0"/>
                <a:ea typeface="Roboto Mono" pitchFamily="34" charset="-122"/>
                <a:cs typeface="Roboto Mono" pitchFamily="34" charset="-120"/>
              </a:rPr>
              <a:t>7</a:t>
            </a:r>
            <a:endParaRPr lang="en-US" sz="4400" dirty="0"/>
          </a:p>
        </p:txBody>
      </p:sp>
      <p:sp>
        <p:nvSpPr>
          <p:cNvPr id="8" name="Text 6"/>
          <p:cNvSpPr txBox="1"/>
          <p:nvPr/>
        </p:nvSpPr>
        <p:spPr>
          <a:xfrm>
            <a:off x="1783080" y="4023360"/>
            <a:ext cx="2743200" cy="731520"/>
          </a:xfrm>
          <a:prstGeom prst="rect">
            <a:avLst/>
          </a:prstGeom>
          <a:noFill/>
          <a:ln/>
        </p:spPr>
        <p:txBody>
          <a:bodyPr wrap="square" lIns="0" tIns="0" rIns="0" bIns="0" rtlCol="0" anchor="ctr"/>
          <a:lstStyle/>
          <a:p>
            <a:pPr indent="0" marL="0">
              <a:buNone/>
            </a:pPr>
            <a:r>
              <a:rPr lang="en-US" sz="1500" dirty="0">
                <a:solidFill>
                  <a:srgbClr val="6B6475"/>
                </a:solidFill>
              </a:rPr>
              <a:t>screens, light and dark</a:t>
            </a:r>
            <a:endParaRPr lang="en-US" sz="1500" dirty="0"/>
          </a:p>
        </p:txBody>
      </p:sp>
      <p:sp>
        <p:nvSpPr>
          <p:cNvPr id="9" name="Text 7"/>
          <p:cNvSpPr txBox="1"/>
          <p:nvPr/>
        </p:nvSpPr>
        <p:spPr>
          <a:xfrm>
            <a:off x="548640" y="4983480"/>
            <a:ext cx="1188720" cy="731520"/>
          </a:xfrm>
          <a:prstGeom prst="rect">
            <a:avLst/>
          </a:prstGeom>
          <a:noFill/>
          <a:ln/>
        </p:spPr>
        <p:txBody>
          <a:bodyPr wrap="square" lIns="0" tIns="0" rIns="0" bIns="0" rtlCol="0" anchor="ctr"/>
          <a:lstStyle/>
          <a:p>
            <a:pPr indent="0" marL="0">
              <a:buNone/>
            </a:pPr>
            <a:r>
              <a:rPr lang="en-US" sz="4400" dirty="0">
                <a:solidFill>
                  <a:srgbClr val="2E7A8C"/>
                </a:solidFill>
                <a:latin typeface="Roboto Mono" pitchFamily="34" charset="0"/>
                <a:ea typeface="Roboto Mono" pitchFamily="34" charset="-122"/>
                <a:cs typeface="Roboto Mono" pitchFamily="34" charset="-120"/>
              </a:rPr>
              <a:t>34</a:t>
            </a:r>
            <a:endParaRPr lang="en-US" sz="4400" dirty="0"/>
          </a:p>
        </p:txBody>
      </p:sp>
      <p:sp>
        <p:nvSpPr>
          <p:cNvPr id="10" name="Text 8"/>
          <p:cNvSpPr txBox="1"/>
          <p:nvPr/>
        </p:nvSpPr>
        <p:spPr>
          <a:xfrm>
            <a:off x="1783080" y="4983480"/>
            <a:ext cx="2743200" cy="731520"/>
          </a:xfrm>
          <a:prstGeom prst="rect">
            <a:avLst/>
          </a:prstGeom>
          <a:noFill/>
          <a:ln/>
        </p:spPr>
        <p:txBody>
          <a:bodyPr wrap="square" lIns="0" tIns="0" rIns="0" bIns="0" rtlCol="0" anchor="ctr"/>
          <a:lstStyle/>
          <a:p>
            <a:pPr indent="0" marL="0">
              <a:buNone/>
            </a:pPr>
            <a:r>
              <a:rPr lang="en-US" sz="1500" dirty="0">
                <a:solidFill>
                  <a:srgbClr val="6B6475"/>
                </a:solidFill>
              </a:rPr>
              <a:t>automated tests</a:t>
            </a:r>
            <a:endParaRPr lang="en-US" sz="1500" dirty="0"/>
          </a:p>
        </p:txBody>
      </p:sp>
      <p:sp>
        <p:nvSpPr>
          <p:cNvPr id="11" name="Blush backdrop"/>
          <p:cNvSpPr/>
          <p:nvPr/>
        </p:nvSpPr>
        <p:spPr>
          <a:xfrm>
            <a:off x="5394960" y="1097280"/>
            <a:ext cx="6400800" cy="4937760"/>
          </a:xfrm>
          <a:prstGeom prst="roundRect">
            <a:avLst>
              <a:gd name="adj" fmla="val 7407"/>
            </a:avLst>
          </a:prstGeom>
          <a:solidFill>
            <a:srgbClr val="FFF1F3"/>
          </a:solidFill>
          <a:ln w="12700">
            <a:solidFill>
              <a:srgbClr val="FFF1F3"/>
            </a:solidFill>
            <a:prstDash val="solid"/>
          </a:ln>
        </p:spPr>
      </p:sp>
      <p:sp>
        <p:nvSpPr>
          <p:cNvPr id="12" name="Browser frame"/>
          <p:cNvSpPr/>
          <p:nvPr/>
        </p:nvSpPr>
        <p:spPr>
          <a:xfrm>
            <a:off x="5001768" y="1362456"/>
            <a:ext cx="6455664" cy="3557016"/>
          </a:xfrm>
          <a:prstGeom prst="roundRect">
            <a:avLst>
              <a:gd name="adj" fmla="val 3599"/>
            </a:avLst>
          </a:prstGeom>
          <a:solidFill>
            <a:srgbClr val="F4F3F6"/>
          </a:solidFill>
          <a:ln w="9525">
            <a:solidFill>
              <a:srgbClr val="E6E3EA"/>
            </a:solidFill>
            <a:prstDash val="solid"/>
          </a:ln>
          <a:effectLst>
            <a:outerShdw sx="100000" sy="100000" kx="0" ky="0" algn="bl" rotWithShape="0" blurRad="177800" dist="63500" dir="5400000">
              <a:srgbClr val="1B1A24">
                <a:alpha val="16000"/>
              </a:srgbClr>
            </a:outerShdw>
          </a:effectLst>
        </p:spPr>
      </p:sp>
      <p:sp>
        <p:nvSpPr>
          <p:cNvPr id="13" name="Window dot"/>
          <p:cNvSpPr/>
          <p:nvPr/>
        </p:nvSpPr>
        <p:spPr>
          <a:xfrm>
            <a:off x="5148072" y="1472184"/>
            <a:ext cx="109728" cy="109728"/>
          </a:xfrm>
          <a:prstGeom prst="ellipse">
            <a:avLst/>
          </a:prstGeom>
          <a:solidFill>
            <a:srgbClr val="FF5F57"/>
          </a:solidFill>
          <a:ln w="12700">
            <a:solidFill>
              <a:srgbClr val="FF5F57"/>
            </a:solidFill>
            <a:prstDash val="solid"/>
          </a:ln>
        </p:spPr>
      </p:sp>
      <p:sp>
        <p:nvSpPr>
          <p:cNvPr id="14" name="Window dot"/>
          <p:cNvSpPr/>
          <p:nvPr/>
        </p:nvSpPr>
        <p:spPr>
          <a:xfrm>
            <a:off x="5330952" y="1472184"/>
            <a:ext cx="109728" cy="109728"/>
          </a:xfrm>
          <a:prstGeom prst="ellipse">
            <a:avLst/>
          </a:prstGeom>
          <a:solidFill>
            <a:srgbClr val="FEBC2E"/>
          </a:solidFill>
          <a:ln w="12700">
            <a:solidFill>
              <a:srgbClr val="FEBC2E"/>
            </a:solidFill>
            <a:prstDash val="solid"/>
          </a:ln>
        </p:spPr>
      </p:sp>
      <p:sp>
        <p:nvSpPr>
          <p:cNvPr id="15" name="Window dot"/>
          <p:cNvSpPr/>
          <p:nvPr/>
        </p:nvSpPr>
        <p:spPr>
          <a:xfrm>
            <a:off x="5513832" y="1472184"/>
            <a:ext cx="109728" cy="109728"/>
          </a:xfrm>
          <a:prstGeom prst="ellipse">
            <a:avLst/>
          </a:prstGeom>
          <a:solidFill>
            <a:srgbClr val="28C840"/>
          </a:solidFill>
          <a:ln w="12700">
            <a:solidFill>
              <a:srgbClr val="28C840"/>
            </a:solidFill>
            <a:prstDash val="solid"/>
          </a:ln>
        </p:spPr>
      </p:sp>
      <p:pic>
        <p:nvPicPr>
          <p:cNvPr id="16" name="Image 0" descr="Screenshot of the running Fellow stack">    </p:cNvPr>
          <p:cNvPicPr>
            <a:picLocks noChangeAspect="1"/>
          </p:cNvPicPr>
          <p:nvPr/>
        </p:nvPicPr>
        <p:blipFill>
          <a:blip r:embed="rId1"/>
          <a:stretch>
            <a:fillRect/>
          </a:stretch>
        </p:blipFill>
        <p:spPr>
          <a:xfrm>
            <a:off x="5074920" y="1691640"/>
            <a:ext cx="6309360" cy="3154680"/>
          </a:xfrm>
          <a:prstGeom prst="rect">
            <a:avLst/>
          </a:prstGeom>
        </p:spPr>
      </p:pic>
      <p:sp>
        <p:nvSpPr>
          <p:cNvPr id="17" name="Text 14"/>
          <p:cNvSpPr txBox="1"/>
          <p:nvPr/>
        </p:nvSpPr>
        <p:spPr>
          <a:xfrm>
            <a:off x="7863840" y="5257800"/>
            <a:ext cx="3291840" cy="347472"/>
          </a:xfrm>
          <a:prstGeom prst="roundRect">
            <a:avLst>
              <a:gd name="adj" fmla="val 131579"/>
            </a:avLst>
          </a:prstGeom>
          <a:solidFill>
            <a:srgbClr val="1F2A3C"/>
          </a:solidFill>
          <a:ln>
            <a:solidFill>
              <a:srgbClr val="1F2A3C"/>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Live on staging.fellow.localhost</a:t>
            </a:r>
            <a:endParaRPr lang="en-US" sz="1200" dirty="0"/>
          </a:p>
        </p:txBody>
      </p:sp>
      <p:sp>
        <p:nvSpPr>
          <p:cNvPr id="18" name="Sparkle"/>
          <p:cNvSpPr/>
          <p:nvPr/>
        </p:nvSpPr>
        <p:spPr>
          <a:xfrm>
            <a:off x="11292840" y="1325880"/>
            <a:ext cx="274320" cy="274320"/>
          </a:xfrm>
          <a:prstGeom prst="star4">
            <a:avLst/>
          </a:prstGeom>
          <a:solidFill>
            <a:srgbClr val="F2C14E"/>
          </a:solidFill>
          <a:ln w="12700">
            <a:solidFill>
              <a:srgbClr val="F2C14E"/>
            </a:solidFill>
            <a:prstDash val="solid"/>
          </a:ln>
        </p:spPr>
      </p:sp>
      <p:sp>
        <p:nvSpPr>
          <p:cNvPr id="25" name="Slide Number Placeholder 0"/>
          <p:cNvSpPr>
            <a:spLocks noGrp="1"/>
          </p:cNvSpPr>
          <p:nvPr>
            <p:ph type="sldNum" sz="quarter" idx="4294967295"/>
          </p:nvPr>
        </p:nvSpPr>
        <p:spPr>
          <a:xfrm>
            <a:off x="112471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647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28600"/>
            <a:ext cx="5486400" cy="274320"/>
          </a:xfrm>
          <a:prstGeom prst="rect">
            <a:avLst/>
          </a:prstGeom>
          <a:noFill/>
          <a:ln/>
        </p:spPr>
        <p:txBody>
          <a:bodyPr wrap="square" lIns="0" tIns="0" rIns="0" bIns="0" rtlCol="0" anchor="ctr"/>
          <a:lstStyle/>
          <a:p>
            <a:pPr indent="0" marL="0">
              <a:buNone/>
            </a:pPr>
            <a:r>
              <a:rPr lang="en-US" sz="1100" b="1" spc="300" kern="0" dirty="0">
                <a:solidFill>
                  <a:srgbClr val="2E7A8C"/>
                </a:solidFill>
                <a:latin typeface="Calibri" pitchFamily="34" charset="0"/>
                <a:ea typeface="Calibri" pitchFamily="34" charset="-122"/>
                <a:cs typeface="Calibri" pitchFamily="34" charset="-120"/>
              </a:rPr>
              <a:t>FEATURES</a:t>
            </a:r>
            <a:endParaRPr lang="en-US" sz="1100" dirty="0"/>
          </a:p>
        </p:txBody>
      </p:sp>
      <p:sp>
        <p:nvSpPr>
          <p:cNvPr id="3" name="Title"/>
          <p:cNvSpPr txBox="1"/>
          <p:nvPr/>
        </p:nvSpPr>
        <p:spPr>
          <a:xfrm>
            <a:off x="548640" y="411480"/>
            <a:ext cx="10972800" cy="822960"/>
          </a:xfrm>
          <a:prstGeom prst="rect">
            <a:avLst/>
          </a:prstGeom>
          <a:noFill/>
          <a:ln/>
        </p:spPr>
        <p:txBody>
          <a:bodyPr wrap="square" lIns="0" tIns="0" rIns="0" bIns="0" rtlCol="0" anchor="ctr"/>
          <a:lstStyle/>
          <a:p>
            <a:pPr indent="0" marL="0">
              <a:buNone/>
            </a:pPr>
            <a:r>
              <a:rPr lang="en-US" sz="3200" b="1" dirty="0">
                <a:solidFill>
                  <a:srgbClr val="1B1A24"/>
                </a:solidFill>
                <a:latin typeface="Roboto Mono" pitchFamily="34" charset="0"/>
                <a:ea typeface="Roboto Mono" pitchFamily="34" charset="-122"/>
                <a:cs typeface="Roboto Mono" pitchFamily="34" charset="-120"/>
              </a:rPr>
              <a:t>Everything HR needs, </a:t>
            </a:r>
            <a:pPr indent="0" marL="0">
              <a:buNone/>
            </a:pPr>
            <a:r>
              <a:rPr lang="en-US" sz="3200" b="1" dirty="0">
                <a:solidFill>
                  <a:srgbClr val="A13C4C"/>
                </a:solidFill>
                <a:latin typeface="Roboto Mono" pitchFamily="34" charset="0"/>
                <a:ea typeface="Roboto Mono" pitchFamily="34" charset="-122"/>
                <a:cs typeface="Roboto Mono" pitchFamily="34" charset="-120"/>
              </a:rPr>
              <a:t>nothing it doesn’t</a:t>
            </a:r>
            <a:endParaRPr lang="en-US" sz="3200" dirty="0"/>
          </a:p>
        </p:txBody>
      </p:sp>
      <p:sp>
        <p:nvSpPr>
          <p:cNvPr id="4" name="Feature card"/>
          <p:cNvSpPr/>
          <p:nvPr/>
        </p:nvSpPr>
        <p:spPr>
          <a:xfrm>
            <a:off x="548640" y="1508760"/>
            <a:ext cx="3520440" cy="1298448"/>
          </a:xfrm>
          <a:prstGeom prst="roundRect">
            <a:avLst>
              <a:gd name="adj" fmla="val 11268"/>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sp>
        <p:nvSpPr>
          <p:cNvPr id="5" name="Icon disc"/>
          <p:cNvSpPr/>
          <p:nvPr/>
        </p:nvSpPr>
        <p:spPr>
          <a:xfrm>
            <a:off x="749808" y="1728216"/>
            <a:ext cx="512064" cy="512064"/>
          </a:xfrm>
          <a:prstGeom prst="ellipse">
            <a:avLst/>
          </a:prstGeom>
          <a:solidFill>
            <a:srgbClr val="FFBDC5"/>
          </a:solidFill>
          <a:ln w="12700">
            <a:solidFill>
              <a:srgbClr val="FFBDC5"/>
            </a:solidFill>
            <a:prstDash val="solid"/>
          </a:ln>
        </p:spPr>
      </p:sp>
      <p:pic>
        <p:nvPicPr>
          <p:cNvPr id="6" name="Image 0" descr="People directory">    </p:cNvPr>
          <p:cNvPicPr>
            <a:picLocks noChangeAspect="1"/>
          </p:cNvPicPr>
          <p:nvPr/>
        </p:nvPicPr>
        <p:blipFill>
          <a:blip r:embed="rId1"/>
          <a:stretch>
            <a:fillRect/>
          </a:stretch>
        </p:blipFill>
        <p:spPr>
          <a:xfrm>
            <a:off x="850392" y="1828800"/>
            <a:ext cx="310896" cy="310896"/>
          </a:xfrm>
          <a:prstGeom prst="rect">
            <a:avLst/>
          </a:prstGeom>
        </p:spPr>
      </p:pic>
      <p:sp>
        <p:nvSpPr>
          <p:cNvPr id="7" name="Text 4"/>
          <p:cNvSpPr txBox="1"/>
          <p:nvPr/>
        </p:nvSpPr>
        <p:spPr>
          <a:xfrm>
            <a:off x="1417320" y="1691640"/>
            <a:ext cx="2514600" cy="365760"/>
          </a:xfrm>
          <a:prstGeom prst="rect">
            <a:avLst/>
          </a:prstGeom>
          <a:noFill/>
          <a:ln/>
        </p:spPr>
        <p:txBody>
          <a:bodyPr wrap="square" lIns="0" tIns="0" rIns="0" bIns="0" rtlCol="0" anchor="ctr"/>
          <a:lstStyle/>
          <a:p>
            <a:pPr indent="0" marL="0">
              <a:buNone/>
            </a:pPr>
            <a:r>
              <a:rPr lang="en-US" sz="1500" b="1" dirty="0">
                <a:solidFill>
                  <a:srgbClr val="1B1A24"/>
                </a:solidFill>
              </a:rPr>
              <a:t>People directory</a:t>
            </a:r>
            <a:endParaRPr lang="en-US" sz="1500" dirty="0"/>
          </a:p>
        </p:txBody>
      </p:sp>
      <p:sp>
        <p:nvSpPr>
          <p:cNvPr id="8" name="Text 5"/>
          <p:cNvSpPr txBox="1"/>
          <p:nvPr/>
        </p:nvSpPr>
        <p:spPr>
          <a:xfrm>
            <a:off x="1417320" y="2039112"/>
            <a:ext cx="2514600" cy="658368"/>
          </a:xfrm>
          <a:prstGeom prst="rect">
            <a:avLst/>
          </a:prstGeom>
          <a:noFill/>
          <a:ln/>
        </p:spPr>
        <p:txBody>
          <a:bodyPr wrap="square" lIns="0" tIns="0" rIns="0" bIns="0" rtlCol="0" anchor="t"/>
          <a:lstStyle/>
          <a:p>
            <a:pPr indent="0" marL="0">
              <a:buNone/>
            </a:pPr>
            <a:r>
              <a:rPr lang="en-US" sz="1200" dirty="0">
                <a:solidFill>
                  <a:srgbClr val="6B6475"/>
                </a:solidFill>
              </a:rPr>
              <a:t>Search, filter, table or card view, full profiles with tenure and team.</a:t>
            </a:r>
            <a:endParaRPr lang="en-US" sz="1200" dirty="0"/>
          </a:p>
        </p:txBody>
      </p:sp>
      <p:sp>
        <p:nvSpPr>
          <p:cNvPr id="9" name="Feature card"/>
          <p:cNvSpPr/>
          <p:nvPr/>
        </p:nvSpPr>
        <p:spPr>
          <a:xfrm>
            <a:off x="8119872" y="1508760"/>
            <a:ext cx="3520440" cy="1298448"/>
          </a:xfrm>
          <a:prstGeom prst="roundRect">
            <a:avLst>
              <a:gd name="adj" fmla="val 11268"/>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sp>
        <p:nvSpPr>
          <p:cNvPr id="10" name="Icon disc"/>
          <p:cNvSpPr/>
          <p:nvPr/>
        </p:nvSpPr>
        <p:spPr>
          <a:xfrm>
            <a:off x="8321040" y="1728216"/>
            <a:ext cx="512064" cy="512064"/>
          </a:xfrm>
          <a:prstGeom prst="ellipse">
            <a:avLst/>
          </a:prstGeom>
          <a:solidFill>
            <a:srgbClr val="F2C14E"/>
          </a:solidFill>
          <a:ln w="12700">
            <a:solidFill>
              <a:srgbClr val="F2C14E"/>
            </a:solidFill>
            <a:prstDash val="solid"/>
          </a:ln>
        </p:spPr>
      </p:sp>
      <p:pic>
        <p:nvPicPr>
          <p:cNvPr id="11" name="Image 1" descr="Attendance">    </p:cNvPr>
          <p:cNvPicPr>
            <a:picLocks noChangeAspect="1"/>
          </p:cNvPicPr>
          <p:nvPr/>
        </p:nvPicPr>
        <p:blipFill>
          <a:blip r:embed="rId2"/>
          <a:stretch>
            <a:fillRect/>
          </a:stretch>
        </p:blipFill>
        <p:spPr>
          <a:xfrm>
            <a:off x="8421624" y="1828800"/>
            <a:ext cx="310896" cy="310896"/>
          </a:xfrm>
          <a:prstGeom prst="rect">
            <a:avLst/>
          </a:prstGeom>
        </p:spPr>
      </p:pic>
      <p:sp>
        <p:nvSpPr>
          <p:cNvPr id="12" name="Text 8"/>
          <p:cNvSpPr txBox="1"/>
          <p:nvPr/>
        </p:nvSpPr>
        <p:spPr>
          <a:xfrm>
            <a:off x="8988552" y="1691640"/>
            <a:ext cx="2514600" cy="365760"/>
          </a:xfrm>
          <a:prstGeom prst="rect">
            <a:avLst/>
          </a:prstGeom>
          <a:noFill/>
          <a:ln/>
        </p:spPr>
        <p:txBody>
          <a:bodyPr wrap="square" lIns="0" tIns="0" rIns="0" bIns="0" rtlCol="0" anchor="ctr"/>
          <a:lstStyle/>
          <a:p>
            <a:pPr indent="0" marL="0">
              <a:buNone/>
            </a:pPr>
            <a:r>
              <a:rPr lang="en-US" sz="1500" b="1" dirty="0">
                <a:solidFill>
                  <a:srgbClr val="1B1A24"/>
                </a:solidFill>
              </a:rPr>
              <a:t>Attendance</a:t>
            </a:r>
            <a:endParaRPr lang="en-US" sz="1500" dirty="0"/>
          </a:p>
        </p:txBody>
      </p:sp>
      <p:sp>
        <p:nvSpPr>
          <p:cNvPr id="13" name="Text 9"/>
          <p:cNvSpPr txBox="1"/>
          <p:nvPr/>
        </p:nvSpPr>
        <p:spPr>
          <a:xfrm>
            <a:off x="8988552" y="2039112"/>
            <a:ext cx="2514600" cy="658368"/>
          </a:xfrm>
          <a:prstGeom prst="rect">
            <a:avLst/>
          </a:prstGeom>
          <a:noFill/>
          <a:ln/>
        </p:spPr>
        <p:txBody>
          <a:bodyPr wrap="square" lIns="0" tIns="0" rIns="0" bIns="0" rtlCol="0" anchor="t"/>
          <a:lstStyle/>
          <a:p>
            <a:pPr indent="0" marL="0">
              <a:buNone/>
            </a:pPr>
            <a:r>
              <a:rPr lang="en-US" sz="1200" dirty="0">
                <a:solidFill>
                  <a:srgbClr val="6B6475"/>
                </a:solidFill>
              </a:rPr>
              <a:t>Server-timed check in and out, late after 09:30, daily board.</a:t>
            </a:r>
            <a:endParaRPr lang="en-US" sz="1200" dirty="0"/>
          </a:p>
        </p:txBody>
      </p:sp>
      <p:sp>
        <p:nvSpPr>
          <p:cNvPr id="14" name="Feature card"/>
          <p:cNvSpPr/>
          <p:nvPr/>
        </p:nvSpPr>
        <p:spPr>
          <a:xfrm>
            <a:off x="548640" y="3081528"/>
            <a:ext cx="3520440" cy="1298448"/>
          </a:xfrm>
          <a:prstGeom prst="roundRect">
            <a:avLst>
              <a:gd name="adj" fmla="val 11268"/>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sp>
        <p:nvSpPr>
          <p:cNvPr id="15" name="Icon disc"/>
          <p:cNvSpPr/>
          <p:nvPr/>
        </p:nvSpPr>
        <p:spPr>
          <a:xfrm>
            <a:off x="749808" y="3300984"/>
            <a:ext cx="512064" cy="512064"/>
          </a:xfrm>
          <a:prstGeom prst="ellipse">
            <a:avLst/>
          </a:prstGeom>
          <a:solidFill>
            <a:srgbClr val="C69FD5"/>
          </a:solidFill>
          <a:ln w="12700">
            <a:solidFill>
              <a:srgbClr val="C69FD5"/>
            </a:solidFill>
            <a:prstDash val="solid"/>
          </a:ln>
        </p:spPr>
      </p:sp>
      <p:pic>
        <p:nvPicPr>
          <p:cNvPr id="16" name="Image 2" descr="Departments">    </p:cNvPr>
          <p:cNvPicPr>
            <a:picLocks noChangeAspect="1"/>
          </p:cNvPicPr>
          <p:nvPr/>
        </p:nvPicPr>
        <p:blipFill>
          <a:blip r:embed="rId3"/>
          <a:stretch>
            <a:fillRect/>
          </a:stretch>
        </p:blipFill>
        <p:spPr>
          <a:xfrm>
            <a:off x="850392" y="3401568"/>
            <a:ext cx="310896" cy="310896"/>
          </a:xfrm>
          <a:prstGeom prst="rect">
            <a:avLst/>
          </a:prstGeom>
        </p:spPr>
      </p:pic>
      <p:sp>
        <p:nvSpPr>
          <p:cNvPr id="17" name="Text 12"/>
          <p:cNvSpPr txBox="1"/>
          <p:nvPr/>
        </p:nvSpPr>
        <p:spPr>
          <a:xfrm>
            <a:off x="1417320" y="3264408"/>
            <a:ext cx="2514600" cy="365760"/>
          </a:xfrm>
          <a:prstGeom prst="rect">
            <a:avLst/>
          </a:prstGeom>
          <a:noFill/>
          <a:ln/>
        </p:spPr>
        <p:txBody>
          <a:bodyPr wrap="square" lIns="0" tIns="0" rIns="0" bIns="0" rtlCol="0" anchor="ctr"/>
          <a:lstStyle/>
          <a:p>
            <a:pPr indent="0" marL="0">
              <a:buNone/>
            </a:pPr>
            <a:r>
              <a:rPr lang="en-US" sz="1500" b="1" dirty="0">
                <a:solidFill>
                  <a:srgbClr val="1B1A24"/>
                </a:solidFill>
              </a:rPr>
              <a:t>Departments</a:t>
            </a:r>
            <a:endParaRPr lang="en-US" sz="1500" dirty="0"/>
          </a:p>
        </p:txBody>
      </p:sp>
      <p:sp>
        <p:nvSpPr>
          <p:cNvPr id="18" name="Text 13"/>
          <p:cNvSpPr txBox="1"/>
          <p:nvPr/>
        </p:nvSpPr>
        <p:spPr>
          <a:xfrm>
            <a:off x="1417320" y="3611880"/>
            <a:ext cx="2514600" cy="658368"/>
          </a:xfrm>
          <a:prstGeom prst="rect">
            <a:avLst/>
          </a:prstGeom>
          <a:noFill/>
          <a:ln/>
        </p:spPr>
        <p:txBody>
          <a:bodyPr wrap="square" lIns="0" tIns="0" rIns="0" bIns="0" rtlCol="0" anchor="t"/>
          <a:lstStyle/>
          <a:p>
            <a:pPr indent="0" marL="0">
              <a:buNone/>
            </a:pPr>
            <a:r>
              <a:rPr lang="en-US" sz="1200" dirty="0">
                <a:solidFill>
                  <a:srgbClr val="6B6475"/>
                </a:solidFill>
              </a:rPr>
              <a:t>Heads, live headcount, delete blocked while people remain.</a:t>
            </a:r>
            <a:endParaRPr lang="en-US" sz="1200" dirty="0"/>
          </a:p>
        </p:txBody>
      </p:sp>
      <p:sp>
        <p:nvSpPr>
          <p:cNvPr id="19" name="Feature card"/>
          <p:cNvSpPr/>
          <p:nvPr/>
        </p:nvSpPr>
        <p:spPr>
          <a:xfrm>
            <a:off x="8119872" y="3081528"/>
            <a:ext cx="3520440" cy="1298448"/>
          </a:xfrm>
          <a:prstGeom prst="roundRect">
            <a:avLst>
              <a:gd name="adj" fmla="val 11268"/>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sp>
        <p:nvSpPr>
          <p:cNvPr id="20" name="Icon disc"/>
          <p:cNvSpPr/>
          <p:nvPr/>
        </p:nvSpPr>
        <p:spPr>
          <a:xfrm>
            <a:off x="8321040" y="3300984"/>
            <a:ext cx="512064" cy="512064"/>
          </a:xfrm>
          <a:prstGeom prst="ellipse">
            <a:avLst/>
          </a:prstGeom>
          <a:solidFill>
            <a:srgbClr val="FFBDC5"/>
          </a:solidFill>
          <a:ln w="12700">
            <a:solidFill>
              <a:srgbClr val="FFBDC5"/>
            </a:solidFill>
            <a:prstDash val="solid"/>
          </a:ln>
        </p:spPr>
      </p:sp>
      <p:pic>
        <p:nvPicPr>
          <p:cNvPr id="21" name="Image 3" descr="Holidays">    </p:cNvPr>
          <p:cNvPicPr>
            <a:picLocks noChangeAspect="1"/>
          </p:cNvPicPr>
          <p:nvPr/>
        </p:nvPicPr>
        <p:blipFill>
          <a:blip r:embed="rId4"/>
          <a:stretch>
            <a:fillRect/>
          </a:stretch>
        </p:blipFill>
        <p:spPr>
          <a:xfrm>
            <a:off x="8421624" y="3401568"/>
            <a:ext cx="310896" cy="310896"/>
          </a:xfrm>
          <a:prstGeom prst="rect">
            <a:avLst/>
          </a:prstGeom>
        </p:spPr>
      </p:pic>
      <p:sp>
        <p:nvSpPr>
          <p:cNvPr id="22" name="Text 16"/>
          <p:cNvSpPr txBox="1"/>
          <p:nvPr/>
        </p:nvSpPr>
        <p:spPr>
          <a:xfrm>
            <a:off x="8988552" y="3264408"/>
            <a:ext cx="2514600" cy="365760"/>
          </a:xfrm>
          <a:prstGeom prst="rect">
            <a:avLst/>
          </a:prstGeom>
          <a:noFill/>
          <a:ln/>
        </p:spPr>
        <p:txBody>
          <a:bodyPr wrap="square" lIns="0" tIns="0" rIns="0" bIns="0" rtlCol="0" anchor="ctr"/>
          <a:lstStyle/>
          <a:p>
            <a:pPr indent="0" marL="0">
              <a:buNone/>
            </a:pPr>
            <a:r>
              <a:rPr lang="en-US" sz="1500" b="1" dirty="0">
                <a:solidFill>
                  <a:srgbClr val="1B1A24"/>
                </a:solidFill>
              </a:rPr>
              <a:t>Holidays</a:t>
            </a:r>
            <a:endParaRPr lang="en-US" sz="1500" dirty="0"/>
          </a:p>
        </p:txBody>
      </p:sp>
      <p:sp>
        <p:nvSpPr>
          <p:cNvPr id="23" name="Text 17"/>
          <p:cNvSpPr txBox="1"/>
          <p:nvPr/>
        </p:nvSpPr>
        <p:spPr>
          <a:xfrm>
            <a:off x="8988552" y="3611880"/>
            <a:ext cx="2514600" cy="658368"/>
          </a:xfrm>
          <a:prstGeom prst="rect">
            <a:avLst/>
          </a:prstGeom>
          <a:noFill/>
          <a:ln/>
        </p:spPr>
        <p:txBody>
          <a:bodyPr wrap="square" lIns="0" tIns="0" rIns="0" bIns="0" rtlCol="0" anchor="t"/>
          <a:lstStyle/>
          <a:p>
            <a:pPr indent="0" marL="0">
              <a:buNone/>
            </a:pPr>
            <a:r>
              <a:rPr lang="en-US" sz="1200" dirty="0">
                <a:solidFill>
                  <a:srgbClr val="6B6475"/>
                </a:solidFill>
              </a:rPr>
              <a:t>Public and optional days that feed leave and attendance rules.</a:t>
            </a:r>
            <a:endParaRPr lang="en-US" sz="1200" dirty="0"/>
          </a:p>
        </p:txBody>
      </p:sp>
      <p:sp>
        <p:nvSpPr>
          <p:cNvPr id="24" name="Feature card"/>
          <p:cNvSpPr/>
          <p:nvPr/>
        </p:nvSpPr>
        <p:spPr>
          <a:xfrm>
            <a:off x="548640" y="4654296"/>
            <a:ext cx="3520440" cy="1298448"/>
          </a:xfrm>
          <a:prstGeom prst="roundRect">
            <a:avLst>
              <a:gd name="adj" fmla="val 11268"/>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sp>
        <p:nvSpPr>
          <p:cNvPr id="25" name="Icon disc"/>
          <p:cNvSpPr/>
          <p:nvPr/>
        </p:nvSpPr>
        <p:spPr>
          <a:xfrm>
            <a:off x="749808" y="4873752"/>
            <a:ext cx="512064" cy="512064"/>
          </a:xfrm>
          <a:prstGeom prst="ellipse">
            <a:avLst/>
          </a:prstGeom>
          <a:solidFill>
            <a:srgbClr val="4C9DB0"/>
          </a:solidFill>
          <a:ln w="12700">
            <a:solidFill>
              <a:srgbClr val="4C9DB0"/>
            </a:solidFill>
            <a:prstDash val="solid"/>
          </a:ln>
        </p:spPr>
      </p:sp>
      <p:pic>
        <p:nvPicPr>
          <p:cNvPr id="26" name="Image 4" descr="Leave">    </p:cNvPr>
          <p:cNvPicPr>
            <a:picLocks noChangeAspect="1"/>
          </p:cNvPicPr>
          <p:nvPr/>
        </p:nvPicPr>
        <p:blipFill>
          <a:blip r:embed="rId5"/>
          <a:stretch>
            <a:fillRect/>
          </a:stretch>
        </p:blipFill>
        <p:spPr>
          <a:xfrm>
            <a:off x="850392" y="4974336"/>
            <a:ext cx="310896" cy="310896"/>
          </a:xfrm>
          <a:prstGeom prst="rect">
            <a:avLst/>
          </a:prstGeom>
        </p:spPr>
      </p:pic>
      <p:sp>
        <p:nvSpPr>
          <p:cNvPr id="27" name="Text 20"/>
          <p:cNvSpPr txBox="1"/>
          <p:nvPr/>
        </p:nvSpPr>
        <p:spPr>
          <a:xfrm>
            <a:off x="1417320" y="4837176"/>
            <a:ext cx="2514600" cy="365760"/>
          </a:xfrm>
          <a:prstGeom prst="rect">
            <a:avLst/>
          </a:prstGeom>
          <a:noFill/>
          <a:ln/>
        </p:spPr>
        <p:txBody>
          <a:bodyPr wrap="square" lIns="0" tIns="0" rIns="0" bIns="0" rtlCol="0" anchor="ctr"/>
          <a:lstStyle/>
          <a:p>
            <a:pPr indent="0" marL="0">
              <a:buNone/>
            </a:pPr>
            <a:r>
              <a:rPr lang="en-US" sz="1500" b="1" dirty="0">
                <a:solidFill>
                  <a:srgbClr val="1B1A24"/>
                </a:solidFill>
              </a:rPr>
              <a:t>Leave</a:t>
            </a:r>
            <a:endParaRPr lang="en-US" sz="1500" dirty="0"/>
          </a:p>
        </p:txBody>
      </p:sp>
      <p:sp>
        <p:nvSpPr>
          <p:cNvPr id="28" name="Text 21"/>
          <p:cNvSpPr txBox="1"/>
          <p:nvPr/>
        </p:nvSpPr>
        <p:spPr>
          <a:xfrm>
            <a:off x="1417320" y="5184648"/>
            <a:ext cx="2514600" cy="658368"/>
          </a:xfrm>
          <a:prstGeom prst="rect">
            <a:avLst/>
          </a:prstGeom>
          <a:noFill/>
          <a:ln/>
        </p:spPr>
        <p:txBody>
          <a:bodyPr wrap="square" lIns="0" tIns="0" rIns="0" bIns="0" rtlCol="0" anchor="t"/>
          <a:lstStyle/>
          <a:p>
            <a:pPr indent="0" marL="0">
              <a:buNone/>
            </a:pPr>
            <a:r>
              <a:rPr lang="en-US" sz="1200" dirty="0">
                <a:solidFill>
                  <a:srgbClr val="6B6475"/>
                </a:solidFill>
              </a:rPr>
              <a:t>Balances per type, weekends and holidays skipped, approve or reject.</a:t>
            </a:r>
            <a:endParaRPr lang="en-US" sz="1200" dirty="0"/>
          </a:p>
        </p:txBody>
      </p:sp>
      <p:sp>
        <p:nvSpPr>
          <p:cNvPr id="29" name="Feature card"/>
          <p:cNvSpPr/>
          <p:nvPr/>
        </p:nvSpPr>
        <p:spPr>
          <a:xfrm>
            <a:off x="8119872" y="4654296"/>
            <a:ext cx="3520440" cy="1298448"/>
          </a:xfrm>
          <a:prstGeom prst="roundRect">
            <a:avLst>
              <a:gd name="adj" fmla="val 11268"/>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sp>
        <p:nvSpPr>
          <p:cNvPr id="30" name="Icon disc"/>
          <p:cNvSpPr/>
          <p:nvPr/>
        </p:nvSpPr>
        <p:spPr>
          <a:xfrm>
            <a:off x="8321040" y="4873752"/>
            <a:ext cx="512064" cy="512064"/>
          </a:xfrm>
          <a:prstGeom prst="ellipse">
            <a:avLst/>
          </a:prstGeom>
          <a:solidFill>
            <a:srgbClr val="C69FD5"/>
          </a:solidFill>
          <a:ln w="12700">
            <a:solidFill>
              <a:srgbClr val="C69FD5"/>
            </a:solidFill>
            <a:prstDash val="solid"/>
          </a:ln>
        </p:spPr>
      </p:sp>
      <p:pic>
        <p:nvPicPr>
          <p:cNvPr id="31" name="Image 5" descr="Dashboard and roles">    </p:cNvPr>
          <p:cNvPicPr>
            <a:picLocks noChangeAspect="1"/>
          </p:cNvPicPr>
          <p:nvPr/>
        </p:nvPicPr>
        <p:blipFill>
          <a:blip r:embed="rId6"/>
          <a:stretch>
            <a:fillRect/>
          </a:stretch>
        </p:blipFill>
        <p:spPr>
          <a:xfrm>
            <a:off x="8421624" y="4974336"/>
            <a:ext cx="310896" cy="310896"/>
          </a:xfrm>
          <a:prstGeom prst="rect">
            <a:avLst/>
          </a:prstGeom>
        </p:spPr>
      </p:pic>
      <p:sp>
        <p:nvSpPr>
          <p:cNvPr id="32" name="Text 24"/>
          <p:cNvSpPr txBox="1"/>
          <p:nvPr/>
        </p:nvSpPr>
        <p:spPr>
          <a:xfrm>
            <a:off x="8988552" y="4837176"/>
            <a:ext cx="2514600" cy="365760"/>
          </a:xfrm>
          <a:prstGeom prst="rect">
            <a:avLst/>
          </a:prstGeom>
          <a:noFill/>
          <a:ln/>
        </p:spPr>
        <p:txBody>
          <a:bodyPr wrap="square" lIns="0" tIns="0" rIns="0" bIns="0" rtlCol="0" anchor="ctr"/>
          <a:lstStyle/>
          <a:p>
            <a:pPr indent="0" marL="0">
              <a:buNone/>
            </a:pPr>
            <a:r>
              <a:rPr lang="en-US" sz="1500" b="1" dirty="0">
                <a:solidFill>
                  <a:srgbClr val="1B1A24"/>
                </a:solidFill>
              </a:rPr>
              <a:t>Dashboard and roles</a:t>
            </a:r>
            <a:endParaRPr lang="en-US" sz="1500" dirty="0"/>
          </a:p>
        </p:txBody>
      </p:sp>
      <p:sp>
        <p:nvSpPr>
          <p:cNvPr id="33" name="Text 25"/>
          <p:cNvSpPr txBox="1"/>
          <p:nvPr/>
        </p:nvSpPr>
        <p:spPr>
          <a:xfrm>
            <a:off x="8988552" y="5184648"/>
            <a:ext cx="2514600" cy="658368"/>
          </a:xfrm>
          <a:prstGeom prst="rect">
            <a:avLst/>
          </a:prstGeom>
          <a:noFill/>
          <a:ln/>
        </p:spPr>
        <p:txBody>
          <a:bodyPr wrap="square" lIns="0" tIns="0" rIns="0" bIns="0" rtlCol="0" anchor="t"/>
          <a:lstStyle/>
          <a:p>
            <a:pPr indent="0" marL="0">
              <a:buNone/>
            </a:pPr>
            <a:r>
              <a:rPr lang="en-US" sz="1200" dirty="0">
                <a:solidFill>
                  <a:srgbClr val="6B6475"/>
                </a:solidFill>
              </a:rPr>
              <a:t>"Viewing as" switcher: admins approve, employees self-serve.</a:t>
            </a:r>
            <a:endParaRPr lang="en-US" sz="1200" dirty="0"/>
          </a:p>
        </p:txBody>
      </p:sp>
      <p:sp>
        <p:nvSpPr>
          <p:cNvPr id="34" name="Sticker frame"/>
          <p:cNvSpPr/>
          <p:nvPr/>
        </p:nvSpPr>
        <p:spPr>
          <a:xfrm>
            <a:off x="4526280" y="1874520"/>
            <a:ext cx="3154680" cy="3154680"/>
          </a:xfrm>
          <a:prstGeom prst="roundRect">
            <a:avLst>
              <a:gd name="adj" fmla="val 5217"/>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pic>
        <p:nvPicPr>
          <p:cNvPr id="35" name="Image 6" descr="Illustration">    </p:cNvPr>
          <p:cNvPicPr>
            <a:picLocks noChangeAspect="1"/>
          </p:cNvPicPr>
          <p:nvPr/>
        </p:nvPicPr>
        <p:blipFill>
          <a:blip r:embed="rId7"/>
          <a:stretch>
            <a:fillRect/>
          </a:stretch>
        </p:blipFill>
        <p:spPr>
          <a:xfrm>
            <a:off x="4636008" y="1984248"/>
            <a:ext cx="2935224" cy="2935224"/>
          </a:xfrm>
          <a:prstGeom prst="rect">
            <a:avLst/>
          </a:prstGeom>
        </p:spPr>
      </p:pic>
      <p:sp>
        <p:nvSpPr>
          <p:cNvPr id="36" name="Text 27"/>
          <p:cNvSpPr txBox="1"/>
          <p:nvPr/>
        </p:nvSpPr>
        <p:spPr>
          <a:xfrm>
            <a:off x="4526280" y="5257800"/>
            <a:ext cx="3154680" cy="365760"/>
          </a:xfrm>
          <a:prstGeom prst="rect">
            <a:avLst/>
          </a:prstGeom>
          <a:noFill/>
          <a:ln/>
        </p:spPr>
        <p:txBody>
          <a:bodyPr wrap="square" lIns="0" tIns="0" rIns="0" bIns="0" rtlCol="0" anchor="ctr"/>
          <a:lstStyle/>
          <a:p>
            <a:pPr algn="ctr" indent="0" marL="0">
              <a:buNone/>
            </a:pPr>
            <a:r>
              <a:rPr lang="en-US" sz="1400" dirty="0">
                <a:solidFill>
                  <a:srgbClr val="6B6475"/>
                </a:solidFill>
                <a:latin typeface="Roboto Mono" pitchFamily="34" charset="0"/>
                <a:ea typeface="Roboto Mono" pitchFamily="34" charset="-122"/>
                <a:cs typeface="Roboto Mono" pitchFamily="34" charset="-120"/>
              </a:rPr>
              <a:t>busy cat, busy HR team</a:t>
            </a:r>
            <a:endParaRPr lang="en-US" sz="1400" dirty="0"/>
          </a:p>
        </p:txBody>
      </p:sp>
      <p:sp>
        <p:nvSpPr>
          <p:cNvPr id="37" name="Sparkle"/>
          <p:cNvSpPr/>
          <p:nvPr/>
        </p:nvSpPr>
        <p:spPr>
          <a:xfrm>
            <a:off x="7498080" y="1600200"/>
            <a:ext cx="274320" cy="274320"/>
          </a:xfrm>
          <a:prstGeom prst="star4">
            <a:avLst/>
          </a:prstGeom>
          <a:solidFill>
            <a:srgbClr val="F2C14E"/>
          </a:solidFill>
          <a:ln w="12700">
            <a:solidFill>
              <a:srgbClr val="F2C14E"/>
            </a:solidFill>
            <a:prstDash val="solid"/>
          </a:ln>
        </p:spPr>
      </p:sp>
      <p:sp>
        <p:nvSpPr>
          <p:cNvPr id="25" name="Slide Number Placeholder 0"/>
          <p:cNvSpPr>
            <a:spLocks noGrp="1"/>
          </p:cNvSpPr>
          <p:nvPr>
            <p:ph type="sldNum" sz="quarter" idx="4294967295"/>
          </p:nvPr>
        </p:nvSpPr>
        <p:spPr>
          <a:xfrm>
            <a:off x="112471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647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28600"/>
            <a:ext cx="5486400" cy="274320"/>
          </a:xfrm>
          <a:prstGeom prst="rect">
            <a:avLst/>
          </a:prstGeom>
          <a:noFill/>
          <a:ln/>
        </p:spPr>
        <p:txBody>
          <a:bodyPr wrap="square" lIns="0" tIns="0" rIns="0" bIns="0" rtlCol="0" anchor="ctr"/>
          <a:lstStyle/>
          <a:p>
            <a:pPr indent="0" marL="0">
              <a:buNone/>
            </a:pPr>
            <a:r>
              <a:rPr lang="en-US" sz="1100" b="1" spc="300" kern="0" dirty="0">
                <a:solidFill>
                  <a:srgbClr val="2E7A8C"/>
                </a:solidFill>
                <a:latin typeface="Calibri" pitchFamily="34" charset="0"/>
                <a:ea typeface="Calibri" pitchFamily="34" charset="-122"/>
                <a:cs typeface="Calibri" pitchFamily="34" charset="-120"/>
              </a:rPr>
              <a:t>TECH STACK</a:t>
            </a:r>
            <a:endParaRPr lang="en-US" sz="1100" dirty="0"/>
          </a:p>
        </p:txBody>
      </p:sp>
      <p:sp>
        <p:nvSpPr>
          <p:cNvPr id="3" name="Title"/>
          <p:cNvSpPr txBox="1"/>
          <p:nvPr/>
        </p:nvSpPr>
        <p:spPr>
          <a:xfrm>
            <a:off x="548640" y="411480"/>
            <a:ext cx="7772400" cy="822960"/>
          </a:xfrm>
          <a:prstGeom prst="rect">
            <a:avLst/>
          </a:prstGeom>
          <a:noFill/>
          <a:ln/>
        </p:spPr>
        <p:txBody>
          <a:bodyPr wrap="square" lIns="0" tIns="0" rIns="0" bIns="0" rtlCol="0" anchor="ctr"/>
          <a:lstStyle/>
          <a:p>
            <a:pPr indent="0" marL="0">
              <a:buNone/>
            </a:pPr>
            <a:r>
              <a:rPr lang="en-US" sz="3200" b="1" dirty="0">
                <a:solidFill>
                  <a:srgbClr val="1B1A24"/>
                </a:solidFill>
                <a:latin typeface="Roboto Mono" pitchFamily="34" charset="0"/>
                <a:ea typeface="Roboto Mono" pitchFamily="34" charset="-122"/>
                <a:cs typeface="Roboto Mono" pitchFamily="34" charset="-120"/>
              </a:rPr>
              <a:t>The </a:t>
            </a:r>
            <a:pPr indent="0" marL="0">
              <a:buNone/>
            </a:pPr>
            <a:r>
              <a:rPr lang="en-US" sz="3200" b="1" dirty="0">
                <a:solidFill>
                  <a:srgbClr val="2E7A8C"/>
                </a:solidFill>
                <a:latin typeface="Roboto Mono" pitchFamily="34" charset="0"/>
                <a:ea typeface="Roboto Mono" pitchFamily="34" charset="-122"/>
                <a:cs typeface="Roboto Mono" pitchFamily="34" charset="-120"/>
              </a:rPr>
              <a:t>stack</a:t>
            </a:r>
            <a:endParaRPr lang="en-US" sz="3200" dirty="0"/>
          </a:p>
        </p:txBody>
      </p:sp>
      <p:sp>
        <p:nvSpPr>
          <p:cNvPr id="4" name="Stack column"/>
          <p:cNvSpPr/>
          <p:nvPr/>
        </p:nvSpPr>
        <p:spPr>
          <a:xfrm>
            <a:off x="548640" y="1508760"/>
            <a:ext cx="2103120" cy="4526280"/>
          </a:xfrm>
          <a:prstGeom prst="roundRect">
            <a:avLst>
              <a:gd name="adj" fmla="val 7826"/>
            </a:avLst>
          </a:prstGeom>
          <a:solidFill>
            <a:srgbClr val="FBF8FB"/>
          </a:solidFill>
          <a:ln w="9525">
            <a:solidFill>
              <a:srgbClr val="EEE9F0"/>
            </a:solidFill>
            <a:prstDash val="solid"/>
          </a:ln>
        </p:spPr>
      </p:sp>
      <p:sp>
        <p:nvSpPr>
          <p:cNvPr id="5" name="Icon disc"/>
          <p:cNvSpPr/>
          <p:nvPr/>
        </p:nvSpPr>
        <p:spPr>
          <a:xfrm>
            <a:off x="777240" y="1737360"/>
            <a:ext cx="548640" cy="548640"/>
          </a:xfrm>
          <a:prstGeom prst="ellipse">
            <a:avLst/>
          </a:prstGeom>
          <a:solidFill>
            <a:srgbClr val="FFBDC5"/>
          </a:solidFill>
          <a:ln w="12700">
            <a:solidFill>
              <a:srgbClr val="FFBDC5"/>
            </a:solidFill>
            <a:prstDash val="solid"/>
          </a:ln>
        </p:spPr>
      </p:sp>
      <p:pic>
        <p:nvPicPr>
          <p:cNvPr id="6" name="Image 0" descr="Build">    </p:cNvPr>
          <p:cNvPicPr>
            <a:picLocks noChangeAspect="1"/>
          </p:cNvPicPr>
          <p:nvPr/>
        </p:nvPicPr>
        <p:blipFill>
          <a:blip r:embed="rId1"/>
          <a:stretch>
            <a:fillRect/>
          </a:stretch>
        </p:blipFill>
        <p:spPr>
          <a:xfrm>
            <a:off x="886968" y="1847088"/>
            <a:ext cx="329184" cy="329184"/>
          </a:xfrm>
          <a:prstGeom prst="rect">
            <a:avLst/>
          </a:prstGeom>
        </p:spPr>
      </p:pic>
      <p:sp>
        <p:nvSpPr>
          <p:cNvPr id="7" name="Text 4"/>
          <p:cNvSpPr txBox="1"/>
          <p:nvPr/>
        </p:nvSpPr>
        <p:spPr>
          <a:xfrm>
            <a:off x="777240" y="2423160"/>
            <a:ext cx="1737360" cy="457200"/>
          </a:xfrm>
          <a:prstGeom prst="rect">
            <a:avLst/>
          </a:prstGeom>
          <a:noFill/>
          <a:ln/>
        </p:spPr>
        <p:txBody>
          <a:bodyPr wrap="square" lIns="0" tIns="0" rIns="0" bIns="0" rtlCol="0" anchor="ctr"/>
          <a:lstStyle/>
          <a:p>
            <a:pPr indent="0" marL="0">
              <a:buNone/>
            </a:pPr>
            <a:r>
              <a:rPr lang="en-US" sz="2200" b="1" dirty="0">
                <a:solidFill>
                  <a:srgbClr val="1B1A24"/>
                </a:solidFill>
                <a:latin typeface="Roboto Mono" pitchFamily="34" charset="0"/>
                <a:ea typeface="Roboto Mono" pitchFamily="34" charset="-122"/>
                <a:cs typeface="Roboto Mono" pitchFamily="34" charset="-120"/>
              </a:rPr>
              <a:t>Build</a:t>
            </a:r>
            <a:endParaRPr lang="en-US" sz="2200" dirty="0"/>
          </a:p>
        </p:txBody>
      </p:sp>
      <p:sp>
        <p:nvSpPr>
          <p:cNvPr id="8" name="Text 5"/>
          <p:cNvSpPr txBox="1"/>
          <p:nvPr/>
        </p:nvSpPr>
        <p:spPr>
          <a:xfrm>
            <a:off x="731520" y="3017520"/>
            <a:ext cx="1737360" cy="347472"/>
          </a:xfrm>
          <a:prstGeom prst="roundRect">
            <a:avLst>
              <a:gd name="adj" fmla="val 131579"/>
            </a:avLst>
          </a:prstGeom>
          <a:solidFill>
            <a:srgbClr val="F1ECF6"/>
          </a:solidFill>
          <a:ln>
            <a:solidFill>
              <a:srgbClr val="F1ECF6"/>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React 18 + Vite</a:t>
            </a:r>
            <a:endParaRPr lang="en-US" sz="1200" dirty="0"/>
          </a:p>
        </p:txBody>
      </p:sp>
      <p:sp>
        <p:nvSpPr>
          <p:cNvPr id="9" name="Text 6"/>
          <p:cNvSpPr txBox="1"/>
          <p:nvPr/>
        </p:nvSpPr>
        <p:spPr>
          <a:xfrm>
            <a:off x="731520" y="3474720"/>
            <a:ext cx="1737360" cy="347472"/>
          </a:xfrm>
          <a:prstGeom prst="roundRect">
            <a:avLst>
              <a:gd name="adj" fmla="val 131579"/>
            </a:avLst>
          </a:prstGeom>
          <a:solidFill>
            <a:srgbClr val="FFF1F3"/>
          </a:solidFill>
          <a:ln>
            <a:solidFill>
              <a:srgbClr val="FFF1F3"/>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react-router</a:t>
            </a:r>
            <a:endParaRPr lang="en-US" sz="1200" dirty="0"/>
          </a:p>
        </p:txBody>
      </p:sp>
      <p:sp>
        <p:nvSpPr>
          <p:cNvPr id="10" name="Text 7"/>
          <p:cNvSpPr txBox="1"/>
          <p:nvPr/>
        </p:nvSpPr>
        <p:spPr>
          <a:xfrm>
            <a:off x="731520" y="3931920"/>
            <a:ext cx="1737360" cy="347472"/>
          </a:xfrm>
          <a:prstGeom prst="roundRect">
            <a:avLst>
              <a:gd name="adj" fmla="val 131579"/>
            </a:avLst>
          </a:prstGeom>
          <a:solidFill>
            <a:srgbClr val="F1ECF6"/>
          </a:solidFill>
          <a:ln>
            <a:solidFill>
              <a:srgbClr val="F1ECF6"/>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FastAPI</a:t>
            </a:r>
            <a:endParaRPr lang="en-US" sz="1200" dirty="0"/>
          </a:p>
        </p:txBody>
      </p:sp>
      <p:sp>
        <p:nvSpPr>
          <p:cNvPr id="11" name="Text 8"/>
          <p:cNvSpPr txBox="1"/>
          <p:nvPr/>
        </p:nvSpPr>
        <p:spPr>
          <a:xfrm>
            <a:off x="731520" y="4389120"/>
            <a:ext cx="1737360" cy="347472"/>
          </a:xfrm>
          <a:prstGeom prst="roundRect">
            <a:avLst>
              <a:gd name="adj" fmla="val 131579"/>
            </a:avLst>
          </a:prstGeom>
          <a:solidFill>
            <a:srgbClr val="FFF1F3"/>
          </a:solidFill>
          <a:ln>
            <a:solidFill>
              <a:srgbClr val="FFF1F3"/>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PostgreSQL 16</a:t>
            </a:r>
            <a:endParaRPr lang="en-US" sz="1200" dirty="0"/>
          </a:p>
        </p:txBody>
      </p:sp>
      <p:sp>
        <p:nvSpPr>
          <p:cNvPr id="12" name="Text 9"/>
          <p:cNvSpPr txBox="1"/>
          <p:nvPr/>
        </p:nvSpPr>
        <p:spPr>
          <a:xfrm>
            <a:off x="731520" y="4846320"/>
            <a:ext cx="1737360" cy="347472"/>
          </a:xfrm>
          <a:prstGeom prst="roundRect">
            <a:avLst>
              <a:gd name="adj" fmla="val 131579"/>
            </a:avLst>
          </a:prstGeom>
          <a:solidFill>
            <a:srgbClr val="F1ECF6"/>
          </a:solidFill>
          <a:ln>
            <a:solidFill>
              <a:srgbClr val="F1ECF6"/>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SQLAlchemy</a:t>
            </a:r>
            <a:endParaRPr lang="en-US" sz="1200" dirty="0"/>
          </a:p>
        </p:txBody>
      </p:sp>
      <p:sp>
        <p:nvSpPr>
          <p:cNvPr id="13" name="Text 10"/>
          <p:cNvSpPr txBox="1"/>
          <p:nvPr/>
        </p:nvSpPr>
        <p:spPr>
          <a:xfrm>
            <a:off x="731520" y="5303520"/>
            <a:ext cx="1737360" cy="347472"/>
          </a:xfrm>
          <a:prstGeom prst="roundRect">
            <a:avLst>
              <a:gd name="adj" fmla="val 131579"/>
            </a:avLst>
          </a:prstGeom>
          <a:solidFill>
            <a:srgbClr val="FFF1F3"/>
          </a:solidFill>
          <a:ln>
            <a:solidFill>
              <a:srgbClr val="FFF1F3"/>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Alembic</a:t>
            </a:r>
            <a:endParaRPr lang="en-US" sz="1200" dirty="0"/>
          </a:p>
        </p:txBody>
      </p:sp>
      <p:sp>
        <p:nvSpPr>
          <p:cNvPr id="14" name="Stack column"/>
          <p:cNvSpPr/>
          <p:nvPr/>
        </p:nvSpPr>
        <p:spPr>
          <a:xfrm>
            <a:off x="2816352" y="1508760"/>
            <a:ext cx="2103120" cy="4526280"/>
          </a:xfrm>
          <a:prstGeom prst="roundRect">
            <a:avLst>
              <a:gd name="adj" fmla="val 7826"/>
            </a:avLst>
          </a:prstGeom>
          <a:solidFill>
            <a:srgbClr val="FFFFFF"/>
          </a:solidFill>
          <a:ln w="9525">
            <a:solidFill>
              <a:srgbClr val="EEE9F0"/>
            </a:solidFill>
            <a:prstDash val="solid"/>
          </a:ln>
        </p:spPr>
      </p:sp>
      <p:sp>
        <p:nvSpPr>
          <p:cNvPr id="15" name="Icon disc"/>
          <p:cNvSpPr/>
          <p:nvPr/>
        </p:nvSpPr>
        <p:spPr>
          <a:xfrm>
            <a:off x="3044952" y="1737360"/>
            <a:ext cx="548640" cy="548640"/>
          </a:xfrm>
          <a:prstGeom prst="ellipse">
            <a:avLst/>
          </a:prstGeom>
          <a:solidFill>
            <a:srgbClr val="F2C14E"/>
          </a:solidFill>
          <a:ln w="12700">
            <a:solidFill>
              <a:srgbClr val="F2C14E"/>
            </a:solidFill>
            <a:prstDash val="solid"/>
          </a:ln>
        </p:spPr>
      </p:sp>
      <p:pic>
        <p:nvPicPr>
          <p:cNvPr id="16" name="Image 1" descr="Verify">    </p:cNvPr>
          <p:cNvPicPr>
            <a:picLocks noChangeAspect="1"/>
          </p:cNvPicPr>
          <p:nvPr/>
        </p:nvPicPr>
        <p:blipFill>
          <a:blip r:embed="rId2"/>
          <a:stretch>
            <a:fillRect/>
          </a:stretch>
        </p:blipFill>
        <p:spPr>
          <a:xfrm>
            <a:off x="3154680" y="1847088"/>
            <a:ext cx="329184" cy="329184"/>
          </a:xfrm>
          <a:prstGeom prst="rect">
            <a:avLst/>
          </a:prstGeom>
        </p:spPr>
      </p:pic>
      <p:sp>
        <p:nvSpPr>
          <p:cNvPr id="17" name="Text 13"/>
          <p:cNvSpPr txBox="1"/>
          <p:nvPr/>
        </p:nvSpPr>
        <p:spPr>
          <a:xfrm>
            <a:off x="3044952" y="2423160"/>
            <a:ext cx="1737360" cy="457200"/>
          </a:xfrm>
          <a:prstGeom prst="rect">
            <a:avLst/>
          </a:prstGeom>
          <a:noFill/>
          <a:ln/>
        </p:spPr>
        <p:txBody>
          <a:bodyPr wrap="square" lIns="0" tIns="0" rIns="0" bIns="0" rtlCol="0" anchor="ctr"/>
          <a:lstStyle/>
          <a:p>
            <a:pPr indent="0" marL="0">
              <a:buNone/>
            </a:pPr>
            <a:r>
              <a:rPr lang="en-US" sz="2200" b="1" dirty="0">
                <a:solidFill>
                  <a:srgbClr val="1B1A24"/>
                </a:solidFill>
                <a:latin typeface="Roboto Mono" pitchFamily="34" charset="0"/>
                <a:ea typeface="Roboto Mono" pitchFamily="34" charset="-122"/>
                <a:cs typeface="Roboto Mono" pitchFamily="34" charset="-120"/>
              </a:rPr>
              <a:t>Verify</a:t>
            </a:r>
            <a:endParaRPr lang="en-US" sz="2200" dirty="0"/>
          </a:p>
        </p:txBody>
      </p:sp>
      <p:sp>
        <p:nvSpPr>
          <p:cNvPr id="18" name="Text 14"/>
          <p:cNvSpPr txBox="1"/>
          <p:nvPr/>
        </p:nvSpPr>
        <p:spPr>
          <a:xfrm>
            <a:off x="2999232" y="3017520"/>
            <a:ext cx="1737360" cy="347472"/>
          </a:xfrm>
          <a:prstGeom prst="roundRect">
            <a:avLst>
              <a:gd name="adj" fmla="val 131579"/>
            </a:avLst>
          </a:prstGeom>
          <a:solidFill>
            <a:srgbClr val="F1ECF6"/>
          </a:solidFill>
          <a:ln>
            <a:solidFill>
              <a:srgbClr val="F1ECF6"/>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pytest (34)</a:t>
            </a:r>
            <a:endParaRPr lang="en-US" sz="1200" dirty="0"/>
          </a:p>
        </p:txBody>
      </p:sp>
      <p:sp>
        <p:nvSpPr>
          <p:cNvPr id="19" name="Text 15"/>
          <p:cNvSpPr txBox="1"/>
          <p:nvPr/>
        </p:nvSpPr>
        <p:spPr>
          <a:xfrm>
            <a:off x="2999232" y="3474720"/>
            <a:ext cx="1737360" cy="347472"/>
          </a:xfrm>
          <a:prstGeom prst="roundRect">
            <a:avLst>
              <a:gd name="adj" fmla="val 131579"/>
            </a:avLst>
          </a:prstGeom>
          <a:solidFill>
            <a:srgbClr val="FFF1F3"/>
          </a:solidFill>
          <a:ln>
            <a:solidFill>
              <a:srgbClr val="FFF1F3"/>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Trivy</a:t>
            </a:r>
            <a:endParaRPr lang="en-US" sz="1200" dirty="0"/>
          </a:p>
        </p:txBody>
      </p:sp>
      <p:sp>
        <p:nvSpPr>
          <p:cNvPr id="20" name="Text 16"/>
          <p:cNvSpPr txBox="1"/>
          <p:nvPr/>
        </p:nvSpPr>
        <p:spPr>
          <a:xfrm>
            <a:off x="2999232" y="3931920"/>
            <a:ext cx="1737360" cy="347472"/>
          </a:xfrm>
          <a:prstGeom prst="roundRect">
            <a:avLst>
              <a:gd name="adj" fmla="val 131579"/>
            </a:avLst>
          </a:prstGeom>
          <a:solidFill>
            <a:srgbClr val="F1ECF6"/>
          </a:solidFill>
          <a:ln>
            <a:solidFill>
              <a:srgbClr val="F1ECF6"/>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actionlint</a:t>
            </a:r>
            <a:endParaRPr lang="en-US" sz="1200" dirty="0"/>
          </a:p>
        </p:txBody>
      </p:sp>
      <p:sp>
        <p:nvSpPr>
          <p:cNvPr id="21" name="Text 17"/>
          <p:cNvSpPr txBox="1"/>
          <p:nvPr/>
        </p:nvSpPr>
        <p:spPr>
          <a:xfrm>
            <a:off x="2999232" y="4389120"/>
            <a:ext cx="1737360" cy="347472"/>
          </a:xfrm>
          <a:prstGeom prst="roundRect">
            <a:avLst>
              <a:gd name="adj" fmla="val 131579"/>
            </a:avLst>
          </a:prstGeom>
          <a:solidFill>
            <a:srgbClr val="FFF1F3"/>
          </a:solidFill>
          <a:ln>
            <a:solidFill>
              <a:srgbClr val="FFF1F3"/>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helm lint</a:t>
            </a:r>
            <a:endParaRPr lang="en-US" sz="1200" dirty="0"/>
          </a:p>
        </p:txBody>
      </p:sp>
      <p:sp>
        <p:nvSpPr>
          <p:cNvPr id="22" name="Text 18"/>
          <p:cNvSpPr txBox="1"/>
          <p:nvPr/>
        </p:nvSpPr>
        <p:spPr>
          <a:xfrm>
            <a:off x="2999232" y="4846320"/>
            <a:ext cx="1737360" cy="347472"/>
          </a:xfrm>
          <a:prstGeom prst="roundRect">
            <a:avLst>
              <a:gd name="adj" fmla="val 131579"/>
            </a:avLst>
          </a:prstGeom>
          <a:solidFill>
            <a:srgbClr val="F1ECF6"/>
          </a:solidFill>
          <a:ln>
            <a:solidFill>
              <a:srgbClr val="F1ECF6"/>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Code review</a:t>
            </a:r>
            <a:endParaRPr lang="en-US" sz="1200" dirty="0"/>
          </a:p>
        </p:txBody>
      </p:sp>
      <p:sp>
        <p:nvSpPr>
          <p:cNvPr id="23" name="Stack column"/>
          <p:cNvSpPr/>
          <p:nvPr/>
        </p:nvSpPr>
        <p:spPr>
          <a:xfrm>
            <a:off x="5084064" y="1508760"/>
            <a:ext cx="2103120" cy="4526280"/>
          </a:xfrm>
          <a:prstGeom prst="roundRect">
            <a:avLst>
              <a:gd name="adj" fmla="val 7826"/>
            </a:avLst>
          </a:prstGeom>
          <a:solidFill>
            <a:srgbClr val="FBF8FB"/>
          </a:solidFill>
          <a:ln w="9525">
            <a:solidFill>
              <a:srgbClr val="EEE9F0"/>
            </a:solidFill>
            <a:prstDash val="solid"/>
          </a:ln>
        </p:spPr>
      </p:sp>
      <p:sp>
        <p:nvSpPr>
          <p:cNvPr id="24" name="Icon disc"/>
          <p:cNvSpPr/>
          <p:nvPr/>
        </p:nvSpPr>
        <p:spPr>
          <a:xfrm>
            <a:off x="5312664" y="1737360"/>
            <a:ext cx="548640" cy="548640"/>
          </a:xfrm>
          <a:prstGeom prst="ellipse">
            <a:avLst/>
          </a:prstGeom>
          <a:solidFill>
            <a:srgbClr val="C69FD5"/>
          </a:solidFill>
          <a:ln w="12700">
            <a:solidFill>
              <a:srgbClr val="C69FD5"/>
            </a:solidFill>
            <a:prstDash val="solid"/>
          </a:ln>
        </p:spPr>
      </p:sp>
      <p:pic>
        <p:nvPicPr>
          <p:cNvPr id="25" name="Image 2" descr="Ship">    </p:cNvPr>
          <p:cNvPicPr>
            <a:picLocks noChangeAspect="1"/>
          </p:cNvPicPr>
          <p:nvPr/>
        </p:nvPicPr>
        <p:blipFill>
          <a:blip r:embed="rId3"/>
          <a:stretch>
            <a:fillRect/>
          </a:stretch>
        </p:blipFill>
        <p:spPr>
          <a:xfrm>
            <a:off x="5422392" y="1847088"/>
            <a:ext cx="329184" cy="329184"/>
          </a:xfrm>
          <a:prstGeom prst="rect">
            <a:avLst/>
          </a:prstGeom>
        </p:spPr>
      </p:pic>
      <p:sp>
        <p:nvSpPr>
          <p:cNvPr id="26" name="Text 21"/>
          <p:cNvSpPr txBox="1"/>
          <p:nvPr/>
        </p:nvSpPr>
        <p:spPr>
          <a:xfrm>
            <a:off x="5312664" y="2423160"/>
            <a:ext cx="1737360" cy="457200"/>
          </a:xfrm>
          <a:prstGeom prst="rect">
            <a:avLst/>
          </a:prstGeom>
          <a:noFill/>
          <a:ln/>
        </p:spPr>
        <p:txBody>
          <a:bodyPr wrap="square" lIns="0" tIns="0" rIns="0" bIns="0" rtlCol="0" anchor="ctr"/>
          <a:lstStyle/>
          <a:p>
            <a:pPr indent="0" marL="0">
              <a:buNone/>
            </a:pPr>
            <a:r>
              <a:rPr lang="en-US" sz="2200" b="1" dirty="0">
                <a:solidFill>
                  <a:srgbClr val="1B1A24"/>
                </a:solidFill>
                <a:latin typeface="Roboto Mono" pitchFamily="34" charset="0"/>
                <a:ea typeface="Roboto Mono" pitchFamily="34" charset="-122"/>
                <a:cs typeface="Roboto Mono" pitchFamily="34" charset="-120"/>
              </a:rPr>
              <a:t>Ship</a:t>
            </a:r>
            <a:endParaRPr lang="en-US" sz="2200" dirty="0"/>
          </a:p>
        </p:txBody>
      </p:sp>
      <p:sp>
        <p:nvSpPr>
          <p:cNvPr id="27" name="Text 22"/>
          <p:cNvSpPr txBox="1"/>
          <p:nvPr/>
        </p:nvSpPr>
        <p:spPr>
          <a:xfrm>
            <a:off x="5266944" y="3017520"/>
            <a:ext cx="1737360" cy="347472"/>
          </a:xfrm>
          <a:prstGeom prst="roundRect">
            <a:avLst>
              <a:gd name="adj" fmla="val 131579"/>
            </a:avLst>
          </a:prstGeom>
          <a:solidFill>
            <a:srgbClr val="F1ECF6"/>
          </a:solidFill>
          <a:ln>
            <a:solidFill>
              <a:srgbClr val="F1ECF6"/>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Docker (non-root)</a:t>
            </a:r>
            <a:endParaRPr lang="en-US" sz="1200" dirty="0"/>
          </a:p>
        </p:txBody>
      </p:sp>
      <p:sp>
        <p:nvSpPr>
          <p:cNvPr id="28" name="Text 23"/>
          <p:cNvSpPr txBox="1"/>
          <p:nvPr/>
        </p:nvSpPr>
        <p:spPr>
          <a:xfrm>
            <a:off x="5266944" y="3474720"/>
            <a:ext cx="1737360" cy="347472"/>
          </a:xfrm>
          <a:prstGeom prst="roundRect">
            <a:avLst>
              <a:gd name="adj" fmla="val 131579"/>
            </a:avLst>
          </a:prstGeom>
          <a:solidFill>
            <a:srgbClr val="FFF1F3"/>
          </a:solidFill>
          <a:ln>
            <a:solidFill>
              <a:srgbClr val="FFF1F3"/>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GitHub Actions</a:t>
            </a:r>
            <a:endParaRPr lang="en-US" sz="1200" dirty="0"/>
          </a:p>
        </p:txBody>
      </p:sp>
      <p:sp>
        <p:nvSpPr>
          <p:cNvPr id="29" name="Text 24"/>
          <p:cNvSpPr txBox="1"/>
          <p:nvPr/>
        </p:nvSpPr>
        <p:spPr>
          <a:xfrm>
            <a:off x="5266944" y="3931920"/>
            <a:ext cx="1737360" cy="347472"/>
          </a:xfrm>
          <a:prstGeom prst="roundRect">
            <a:avLst>
              <a:gd name="adj" fmla="val 131579"/>
            </a:avLst>
          </a:prstGeom>
          <a:solidFill>
            <a:srgbClr val="F1ECF6"/>
          </a:solidFill>
          <a:ln>
            <a:solidFill>
              <a:srgbClr val="F1ECF6"/>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GHCR, SHA tags</a:t>
            </a:r>
            <a:endParaRPr lang="en-US" sz="1200" dirty="0"/>
          </a:p>
        </p:txBody>
      </p:sp>
      <p:sp>
        <p:nvSpPr>
          <p:cNvPr id="30" name="Text 25"/>
          <p:cNvSpPr txBox="1"/>
          <p:nvPr/>
        </p:nvSpPr>
        <p:spPr>
          <a:xfrm>
            <a:off x="5266944" y="4389120"/>
            <a:ext cx="1737360" cy="347472"/>
          </a:xfrm>
          <a:prstGeom prst="roundRect">
            <a:avLst>
              <a:gd name="adj" fmla="val 131579"/>
            </a:avLst>
          </a:prstGeom>
          <a:solidFill>
            <a:srgbClr val="FFF1F3"/>
          </a:solidFill>
          <a:ln>
            <a:solidFill>
              <a:srgbClr val="FFF1F3"/>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Argo CD</a:t>
            </a:r>
            <a:endParaRPr lang="en-US" sz="1200" dirty="0"/>
          </a:p>
        </p:txBody>
      </p:sp>
      <p:sp>
        <p:nvSpPr>
          <p:cNvPr id="31" name="Stack column"/>
          <p:cNvSpPr/>
          <p:nvPr/>
        </p:nvSpPr>
        <p:spPr>
          <a:xfrm>
            <a:off x="7351776" y="1508760"/>
            <a:ext cx="2103120" cy="4526280"/>
          </a:xfrm>
          <a:prstGeom prst="roundRect">
            <a:avLst>
              <a:gd name="adj" fmla="val 7826"/>
            </a:avLst>
          </a:prstGeom>
          <a:solidFill>
            <a:srgbClr val="FFFFFF"/>
          </a:solidFill>
          <a:ln w="9525">
            <a:solidFill>
              <a:srgbClr val="EEE9F0"/>
            </a:solidFill>
            <a:prstDash val="solid"/>
          </a:ln>
        </p:spPr>
      </p:sp>
      <p:sp>
        <p:nvSpPr>
          <p:cNvPr id="32" name="Icon disc"/>
          <p:cNvSpPr/>
          <p:nvPr/>
        </p:nvSpPr>
        <p:spPr>
          <a:xfrm>
            <a:off x="7580376" y="1737360"/>
            <a:ext cx="548640" cy="548640"/>
          </a:xfrm>
          <a:prstGeom prst="ellipse">
            <a:avLst/>
          </a:prstGeom>
          <a:solidFill>
            <a:srgbClr val="4C9DB0"/>
          </a:solidFill>
          <a:ln w="12700">
            <a:solidFill>
              <a:srgbClr val="4C9DB0"/>
            </a:solidFill>
            <a:prstDash val="solid"/>
          </a:ln>
        </p:spPr>
      </p:sp>
      <p:pic>
        <p:nvPicPr>
          <p:cNvPr id="33" name="Image 3" descr="Run">    </p:cNvPr>
          <p:cNvPicPr>
            <a:picLocks noChangeAspect="1"/>
          </p:cNvPicPr>
          <p:nvPr/>
        </p:nvPicPr>
        <p:blipFill>
          <a:blip r:embed="rId4"/>
          <a:stretch>
            <a:fillRect/>
          </a:stretch>
        </p:blipFill>
        <p:spPr>
          <a:xfrm>
            <a:off x="7690104" y="1847088"/>
            <a:ext cx="329184" cy="329184"/>
          </a:xfrm>
          <a:prstGeom prst="rect">
            <a:avLst/>
          </a:prstGeom>
        </p:spPr>
      </p:pic>
      <p:sp>
        <p:nvSpPr>
          <p:cNvPr id="34" name="Text 28"/>
          <p:cNvSpPr txBox="1"/>
          <p:nvPr/>
        </p:nvSpPr>
        <p:spPr>
          <a:xfrm>
            <a:off x="7580376" y="2423160"/>
            <a:ext cx="1737360" cy="457200"/>
          </a:xfrm>
          <a:prstGeom prst="rect">
            <a:avLst/>
          </a:prstGeom>
          <a:noFill/>
          <a:ln/>
        </p:spPr>
        <p:txBody>
          <a:bodyPr wrap="square" lIns="0" tIns="0" rIns="0" bIns="0" rtlCol="0" anchor="ctr"/>
          <a:lstStyle/>
          <a:p>
            <a:pPr indent="0" marL="0">
              <a:buNone/>
            </a:pPr>
            <a:r>
              <a:rPr lang="en-US" sz="2200" b="1" dirty="0">
                <a:solidFill>
                  <a:srgbClr val="1B1A24"/>
                </a:solidFill>
                <a:latin typeface="Roboto Mono" pitchFamily="34" charset="0"/>
                <a:ea typeface="Roboto Mono" pitchFamily="34" charset="-122"/>
                <a:cs typeface="Roboto Mono" pitchFamily="34" charset="-120"/>
              </a:rPr>
              <a:t>Run</a:t>
            </a:r>
            <a:endParaRPr lang="en-US" sz="2200" dirty="0"/>
          </a:p>
        </p:txBody>
      </p:sp>
      <p:sp>
        <p:nvSpPr>
          <p:cNvPr id="35" name="Text 29"/>
          <p:cNvSpPr txBox="1"/>
          <p:nvPr/>
        </p:nvSpPr>
        <p:spPr>
          <a:xfrm>
            <a:off x="7534656" y="3017520"/>
            <a:ext cx="1737360" cy="347472"/>
          </a:xfrm>
          <a:prstGeom prst="roundRect">
            <a:avLst>
              <a:gd name="adj" fmla="val 131579"/>
            </a:avLst>
          </a:prstGeom>
          <a:solidFill>
            <a:srgbClr val="F1ECF6"/>
          </a:solidFill>
          <a:ln>
            <a:solidFill>
              <a:srgbClr val="F1ECF6"/>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Terraform</a:t>
            </a:r>
            <a:endParaRPr lang="en-US" sz="1200" dirty="0"/>
          </a:p>
        </p:txBody>
      </p:sp>
      <p:sp>
        <p:nvSpPr>
          <p:cNvPr id="36" name="Text 30"/>
          <p:cNvSpPr txBox="1"/>
          <p:nvPr/>
        </p:nvSpPr>
        <p:spPr>
          <a:xfrm>
            <a:off x="7534656" y="3474720"/>
            <a:ext cx="1737360" cy="347472"/>
          </a:xfrm>
          <a:prstGeom prst="roundRect">
            <a:avLst>
              <a:gd name="adj" fmla="val 131579"/>
            </a:avLst>
          </a:prstGeom>
          <a:solidFill>
            <a:srgbClr val="FFF1F3"/>
          </a:solidFill>
          <a:ln>
            <a:solidFill>
              <a:srgbClr val="FFF1F3"/>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LocalStack</a:t>
            </a:r>
            <a:endParaRPr lang="en-US" sz="1200" dirty="0"/>
          </a:p>
        </p:txBody>
      </p:sp>
      <p:sp>
        <p:nvSpPr>
          <p:cNvPr id="37" name="Text 31"/>
          <p:cNvSpPr txBox="1"/>
          <p:nvPr/>
        </p:nvSpPr>
        <p:spPr>
          <a:xfrm>
            <a:off x="7534656" y="3931920"/>
            <a:ext cx="1737360" cy="347472"/>
          </a:xfrm>
          <a:prstGeom prst="roundRect">
            <a:avLst>
              <a:gd name="adj" fmla="val 131579"/>
            </a:avLst>
          </a:prstGeom>
          <a:solidFill>
            <a:srgbClr val="F1ECF6"/>
          </a:solidFill>
          <a:ln>
            <a:solidFill>
              <a:srgbClr val="F1ECF6"/>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kind</a:t>
            </a:r>
            <a:endParaRPr lang="en-US" sz="1200" dirty="0"/>
          </a:p>
        </p:txBody>
      </p:sp>
      <p:sp>
        <p:nvSpPr>
          <p:cNvPr id="38" name="Text 32"/>
          <p:cNvSpPr txBox="1"/>
          <p:nvPr/>
        </p:nvSpPr>
        <p:spPr>
          <a:xfrm>
            <a:off x="7534656" y="4389120"/>
            <a:ext cx="1737360" cy="347472"/>
          </a:xfrm>
          <a:prstGeom prst="roundRect">
            <a:avLst>
              <a:gd name="adj" fmla="val 131579"/>
            </a:avLst>
          </a:prstGeom>
          <a:solidFill>
            <a:srgbClr val="FFF1F3"/>
          </a:solidFill>
          <a:ln>
            <a:solidFill>
              <a:srgbClr val="FFF1F3"/>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Helm</a:t>
            </a:r>
            <a:endParaRPr lang="en-US" sz="1200" dirty="0"/>
          </a:p>
        </p:txBody>
      </p:sp>
      <p:sp>
        <p:nvSpPr>
          <p:cNvPr id="39" name="Text 33"/>
          <p:cNvSpPr txBox="1"/>
          <p:nvPr/>
        </p:nvSpPr>
        <p:spPr>
          <a:xfrm>
            <a:off x="7534656" y="4846320"/>
            <a:ext cx="1737360" cy="347472"/>
          </a:xfrm>
          <a:prstGeom prst="roundRect">
            <a:avLst>
              <a:gd name="adj" fmla="val 131579"/>
            </a:avLst>
          </a:prstGeom>
          <a:solidFill>
            <a:srgbClr val="F1ECF6"/>
          </a:solidFill>
          <a:ln>
            <a:solidFill>
              <a:srgbClr val="F1ECF6"/>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ingress-nginx</a:t>
            </a:r>
            <a:endParaRPr lang="en-US" sz="1200" dirty="0"/>
          </a:p>
        </p:txBody>
      </p:sp>
      <p:sp>
        <p:nvSpPr>
          <p:cNvPr id="40" name="Text 34"/>
          <p:cNvSpPr txBox="1"/>
          <p:nvPr/>
        </p:nvSpPr>
        <p:spPr>
          <a:xfrm>
            <a:off x="7534656" y="5303520"/>
            <a:ext cx="1737360" cy="347472"/>
          </a:xfrm>
          <a:prstGeom prst="roundRect">
            <a:avLst>
              <a:gd name="adj" fmla="val 131579"/>
            </a:avLst>
          </a:prstGeom>
          <a:solidFill>
            <a:srgbClr val="FFF1F3"/>
          </a:solidFill>
          <a:ln>
            <a:solidFill>
              <a:srgbClr val="FFF1F3"/>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HPA</a:t>
            </a:r>
            <a:endParaRPr lang="en-US" sz="1200" dirty="0"/>
          </a:p>
        </p:txBody>
      </p:sp>
      <p:sp>
        <p:nvSpPr>
          <p:cNvPr id="41" name="Stack column"/>
          <p:cNvSpPr/>
          <p:nvPr/>
        </p:nvSpPr>
        <p:spPr>
          <a:xfrm>
            <a:off x="9619488" y="1508760"/>
            <a:ext cx="2103120" cy="4526280"/>
          </a:xfrm>
          <a:prstGeom prst="roundRect">
            <a:avLst>
              <a:gd name="adj" fmla="val 7826"/>
            </a:avLst>
          </a:prstGeom>
          <a:solidFill>
            <a:srgbClr val="FBF8FB"/>
          </a:solidFill>
          <a:ln w="9525">
            <a:solidFill>
              <a:srgbClr val="EEE9F0"/>
            </a:solidFill>
            <a:prstDash val="solid"/>
          </a:ln>
        </p:spPr>
      </p:sp>
      <p:sp>
        <p:nvSpPr>
          <p:cNvPr id="42" name="Icon disc"/>
          <p:cNvSpPr/>
          <p:nvPr/>
        </p:nvSpPr>
        <p:spPr>
          <a:xfrm>
            <a:off x="9848088" y="1737360"/>
            <a:ext cx="548640" cy="548640"/>
          </a:xfrm>
          <a:prstGeom prst="ellipse">
            <a:avLst/>
          </a:prstGeom>
          <a:solidFill>
            <a:srgbClr val="FFBDC5"/>
          </a:solidFill>
          <a:ln w="12700">
            <a:solidFill>
              <a:srgbClr val="FFBDC5"/>
            </a:solidFill>
            <a:prstDash val="solid"/>
          </a:ln>
        </p:spPr>
      </p:sp>
      <p:pic>
        <p:nvPicPr>
          <p:cNvPr id="43" name="Image 4" descr="Observe">    </p:cNvPr>
          <p:cNvPicPr>
            <a:picLocks noChangeAspect="1"/>
          </p:cNvPicPr>
          <p:nvPr/>
        </p:nvPicPr>
        <p:blipFill>
          <a:blip r:embed="rId5"/>
          <a:stretch>
            <a:fillRect/>
          </a:stretch>
        </p:blipFill>
        <p:spPr>
          <a:xfrm>
            <a:off x="9957816" y="1847088"/>
            <a:ext cx="329184" cy="329184"/>
          </a:xfrm>
          <a:prstGeom prst="rect">
            <a:avLst/>
          </a:prstGeom>
        </p:spPr>
      </p:pic>
      <p:sp>
        <p:nvSpPr>
          <p:cNvPr id="44" name="Text 37"/>
          <p:cNvSpPr txBox="1"/>
          <p:nvPr/>
        </p:nvSpPr>
        <p:spPr>
          <a:xfrm>
            <a:off x="9848088" y="2423160"/>
            <a:ext cx="1737360" cy="457200"/>
          </a:xfrm>
          <a:prstGeom prst="rect">
            <a:avLst/>
          </a:prstGeom>
          <a:noFill/>
          <a:ln/>
        </p:spPr>
        <p:txBody>
          <a:bodyPr wrap="square" lIns="0" tIns="0" rIns="0" bIns="0" rtlCol="0" anchor="ctr"/>
          <a:lstStyle/>
          <a:p>
            <a:pPr indent="0" marL="0">
              <a:buNone/>
            </a:pPr>
            <a:r>
              <a:rPr lang="en-US" sz="2200" b="1" dirty="0">
                <a:solidFill>
                  <a:srgbClr val="1B1A24"/>
                </a:solidFill>
                <a:latin typeface="Roboto Mono" pitchFamily="34" charset="0"/>
                <a:ea typeface="Roboto Mono" pitchFamily="34" charset="-122"/>
                <a:cs typeface="Roboto Mono" pitchFamily="34" charset="-120"/>
              </a:rPr>
              <a:t>Observe</a:t>
            </a:r>
            <a:endParaRPr lang="en-US" sz="2200" dirty="0"/>
          </a:p>
        </p:txBody>
      </p:sp>
      <p:sp>
        <p:nvSpPr>
          <p:cNvPr id="45" name="Text 38"/>
          <p:cNvSpPr txBox="1"/>
          <p:nvPr/>
        </p:nvSpPr>
        <p:spPr>
          <a:xfrm>
            <a:off x="9802368" y="3017520"/>
            <a:ext cx="1737360" cy="347472"/>
          </a:xfrm>
          <a:prstGeom prst="roundRect">
            <a:avLst>
              <a:gd name="adj" fmla="val 131579"/>
            </a:avLst>
          </a:prstGeom>
          <a:solidFill>
            <a:srgbClr val="F1ECF6"/>
          </a:solidFill>
          <a:ln>
            <a:solidFill>
              <a:srgbClr val="F1ECF6"/>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Prometheus</a:t>
            </a:r>
            <a:endParaRPr lang="en-US" sz="1200" dirty="0"/>
          </a:p>
        </p:txBody>
      </p:sp>
      <p:sp>
        <p:nvSpPr>
          <p:cNvPr id="46" name="Text 39"/>
          <p:cNvSpPr txBox="1"/>
          <p:nvPr/>
        </p:nvSpPr>
        <p:spPr>
          <a:xfrm>
            <a:off x="9802368" y="3474720"/>
            <a:ext cx="1737360" cy="347472"/>
          </a:xfrm>
          <a:prstGeom prst="roundRect">
            <a:avLst>
              <a:gd name="adj" fmla="val 131579"/>
            </a:avLst>
          </a:prstGeom>
          <a:solidFill>
            <a:srgbClr val="FFF1F3"/>
          </a:solidFill>
          <a:ln>
            <a:solidFill>
              <a:srgbClr val="FFF1F3"/>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Grafana</a:t>
            </a:r>
            <a:endParaRPr lang="en-US" sz="1200" dirty="0"/>
          </a:p>
        </p:txBody>
      </p:sp>
      <p:sp>
        <p:nvSpPr>
          <p:cNvPr id="47" name="Text 40"/>
          <p:cNvSpPr txBox="1"/>
          <p:nvPr/>
        </p:nvSpPr>
        <p:spPr>
          <a:xfrm>
            <a:off x="9802368" y="3931920"/>
            <a:ext cx="1737360" cy="347472"/>
          </a:xfrm>
          <a:prstGeom prst="roundRect">
            <a:avLst>
              <a:gd name="adj" fmla="val 131579"/>
            </a:avLst>
          </a:prstGeom>
          <a:solidFill>
            <a:srgbClr val="F1ECF6"/>
          </a:solidFill>
          <a:ln>
            <a:solidFill>
              <a:srgbClr val="F1ECF6"/>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ServiceMonitor</a:t>
            </a:r>
            <a:endParaRPr lang="en-US" sz="1200" dirty="0"/>
          </a:p>
        </p:txBody>
      </p:sp>
      <p:sp>
        <p:nvSpPr>
          <p:cNvPr id="48" name="Text 41"/>
          <p:cNvSpPr txBox="1"/>
          <p:nvPr/>
        </p:nvSpPr>
        <p:spPr>
          <a:xfrm>
            <a:off x="9802368" y="4389120"/>
            <a:ext cx="1737360" cy="347472"/>
          </a:xfrm>
          <a:prstGeom prst="roundRect">
            <a:avLst>
              <a:gd name="adj" fmla="val 131579"/>
            </a:avLst>
          </a:prstGeom>
          <a:solidFill>
            <a:srgbClr val="FFF1F3"/>
          </a:solidFill>
          <a:ln>
            <a:solidFill>
              <a:srgbClr val="FFF1F3"/>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kube-state-metrics</a:t>
            </a:r>
            <a:endParaRPr lang="en-US" sz="1200" dirty="0"/>
          </a:p>
        </p:txBody>
      </p:sp>
      <p:sp>
        <p:nvSpPr>
          <p:cNvPr id="25" name="Slide Number Placeholder 0"/>
          <p:cNvSpPr>
            <a:spLocks noGrp="1"/>
          </p:cNvSpPr>
          <p:nvPr>
            <p:ph type="sldNum" sz="quarter" idx="4294967295"/>
          </p:nvPr>
        </p:nvSpPr>
        <p:spPr>
          <a:xfrm>
            <a:off x="112471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647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28600"/>
            <a:ext cx="5486400" cy="274320"/>
          </a:xfrm>
          <a:prstGeom prst="rect">
            <a:avLst/>
          </a:prstGeom>
          <a:noFill/>
          <a:ln/>
        </p:spPr>
        <p:txBody>
          <a:bodyPr wrap="square" lIns="0" tIns="0" rIns="0" bIns="0" rtlCol="0" anchor="ctr"/>
          <a:lstStyle/>
          <a:p>
            <a:pPr indent="0" marL="0">
              <a:buNone/>
            </a:pPr>
            <a:r>
              <a:rPr lang="en-US" sz="1100" b="1" spc="300" kern="0" dirty="0">
                <a:solidFill>
                  <a:srgbClr val="FFBDC5"/>
                </a:solidFill>
                <a:latin typeface="Calibri" pitchFamily="34" charset="0"/>
                <a:ea typeface="Calibri" pitchFamily="34" charset="-122"/>
                <a:cs typeface="Calibri" pitchFamily="34" charset="-120"/>
              </a:rPr>
              <a:t>ARCHITECTURE</a:t>
            </a:r>
            <a:endParaRPr lang="en-US" sz="1100" dirty="0"/>
          </a:p>
        </p:txBody>
      </p:sp>
      <p:sp>
        <p:nvSpPr>
          <p:cNvPr id="3" name="Title"/>
          <p:cNvSpPr txBox="1"/>
          <p:nvPr/>
        </p:nvSpPr>
        <p:spPr>
          <a:xfrm>
            <a:off x="548640" y="411480"/>
            <a:ext cx="7772400" cy="822960"/>
          </a:xfrm>
          <a:prstGeom prst="rect">
            <a:avLst/>
          </a:prstGeom>
          <a:noFill/>
          <a:ln/>
        </p:spPr>
        <p:txBody>
          <a:bodyPr wrap="square" lIns="0" tIns="0" rIns="0" bIns="0" rtlCol="0" anchor="ctr"/>
          <a:lstStyle/>
          <a:p>
            <a:pPr indent="0" marL="0">
              <a:buNone/>
            </a:pPr>
            <a:r>
              <a:rPr lang="en-US" sz="3200" b="1" dirty="0">
                <a:solidFill>
                  <a:srgbClr val="FFFFFF"/>
                </a:solidFill>
                <a:latin typeface="Roboto Mono" pitchFamily="34" charset="0"/>
                <a:ea typeface="Roboto Mono" pitchFamily="34" charset="-122"/>
                <a:cs typeface="Roboto Mono" pitchFamily="34" charset="-120"/>
              </a:rPr>
              <a:t>How a request </a:t>
            </a:r>
            <a:pPr indent="0" marL="0">
              <a:buNone/>
            </a:pPr>
            <a:r>
              <a:rPr lang="en-US" sz="3200" b="1" dirty="0">
                <a:solidFill>
                  <a:srgbClr val="FFBDC5"/>
                </a:solidFill>
                <a:latin typeface="Roboto Mono" pitchFamily="34" charset="0"/>
                <a:ea typeface="Roboto Mono" pitchFamily="34" charset="-122"/>
                <a:cs typeface="Roboto Mono" pitchFamily="34" charset="-120"/>
              </a:rPr>
              <a:t>travels</a:t>
            </a:r>
            <a:endParaRPr lang="en-US" sz="3200" dirty="0"/>
          </a:p>
        </p:txBody>
      </p:sp>
      <p:sp>
        <p:nvSpPr>
          <p:cNvPr id="4" name="VPC boundary"/>
          <p:cNvSpPr/>
          <p:nvPr/>
        </p:nvSpPr>
        <p:spPr>
          <a:xfrm>
            <a:off x="2240280" y="1417320"/>
            <a:ext cx="9418320" cy="4709160"/>
          </a:xfrm>
          <a:prstGeom prst="roundRect">
            <a:avLst>
              <a:gd name="adj" fmla="val 4854"/>
            </a:avLst>
          </a:prstGeom>
          <a:solidFill>
            <a:srgbClr val="26344B"/>
          </a:solidFill>
          <a:ln w="12700">
            <a:solidFill>
              <a:srgbClr val="3B4C68"/>
            </a:solidFill>
            <a:prstDash val="dash"/>
          </a:ln>
        </p:spPr>
      </p:sp>
      <p:sp>
        <p:nvSpPr>
          <p:cNvPr id="5" name="Text 3"/>
          <p:cNvSpPr txBox="1"/>
          <p:nvPr/>
        </p:nvSpPr>
        <p:spPr>
          <a:xfrm>
            <a:off x="2468880" y="1481328"/>
            <a:ext cx="5486400" cy="320040"/>
          </a:xfrm>
          <a:prstGeom prst="rect">
            <a:avLst/>
          </a:prstGeom>
          <a:noFill/>
          <a:ln/>
        </p:spPr>
        <p:txBody>
          <a:bodyPr wrap="square" lIns="0" tIns="0" rIns="0" bIns="0" rtlCol="0" anchor="ctr"/>
          <a:lstStyle/>
          <a:p>
            <a:pPr indent="0" marL="0">
              <a:buNone/>
            </a:pPr>
            <a:r>
              <a:rPr lang="en-US" sz="1100" dirty="0">
                <a:solidFill>
                  <a:srgbClr val="AEB8C8"/>
                </a:solidFill>
              </a:rPr>
              <a:t>AWS VPC on LocalStack  ·  Terraform</a:t>
            </a:r>
            <a:endParaRPr lang="en-US" sz="1100" dirty="0"/>
          </a:p>
        </p:txBody>
      </p:sp>
      <p:sp>
        <p:nvSpPr>
          <p:cNvPr id="6" name="Cluster boundary"/>
          <p:cNvSpPr/>
          <p:nvPr/>
        </p:nvSpPr>
        <p:spPr>
          <a:xfrm>
            <a:off x="2514600" y="1828800"/>
            <a:ext cx="8915400" cy="4114800"/>
          </a:xfrm>
          <a:prstGeom prst="roundRect">
            <a:avLst>
              <a:gd name="adj" fmla="val 4889"/>
            </a:avLst>
          </a:prstGeom>
          <a:solidFill>
            <a:srgbClr val="2A3850"/>
          </a:solidFill>
          <a:ln w="15875">
            <a:solidFill>
              <a:srgbClr val="4C9DB0"/>
            </a:solidFill>
            <a:prstDash val="solid"/>
          </a:ln>
        </p:spPr>
      </p:sp>
      <p:sp>
        <p:nvSpPr>
          <p:cNvPr id="7" name="Text 5"/>
          <p:cNvSpPr txBox="1"/>
          <p:nvPr/>
        </p:nvSpPr>
        <p:spPr>
          <a:xfrm>
            <a:off x="2743200" y="1892808"/>
            <a:ext cx="5486400" cy="320040"/>
          </a:xfrm>
          <a:prstGeom prst="rect">
            <a:avLst/>
          </a:prstGeom>
          <a:noFill/>
          <a:ln/>
        </p:spPr>
        <p:txBody>
          <a:bodyPr wrap="square" lIns="0" tIns="0" rIns="0" bIns="0" rtlCol="0" anchor="ctr"/>
          <a:lstStyle/>
          <a:p>
            <a:pPr indent="0" marL="0">
              <a:buNone/>
            </a:pPr>
            <a:r>
              <a:rPr lang="en-US" sz="1100" dirty="0">
                <a:solidFill>
                  <a:srgbClr val="4C9DB0"/>
                </a:solidFill>
              </a:rPr>
              <a:t>kind Kubernetes cluster  ·  3 nodes</a:t>
            </a:r>
            <a:endParaRPr lang="en-US" sz="1100" dirty="0"/>
          </a:p>
        </p:txBody>
      </p:sp>
      <p:sp>
        <p:nvSpPr>
          <p:cNvPr id="8" name="Browser"/>
          <p:cNvSpPr/>
          <p:nvPr/>
        </p:nvSpPr>
        <p:spPr>
          <a:xfrm>
            <a:off x="548640" y="3337560"/>
            <a:ext cx="1417320" cy="1005840"/>
          </a:xfrm>
          <a:prstGeom prst="roundRect">
            <a:avLst>
              <a:gd name="adj" fmla="val 12727"/>
            </a:avLst>
          </a:prstGeom>
          <a:solidFill>
            <a:srgbClr val="FFFFFF"/>
          </a:solidFill>
          <a:ln w="12700">
            <a:solidFill>
              <a:srgbClr val="FFFFFF"/>
            </a:solidFill>
            <a:prstDash val="solid"/>
          </a:ln>
        </p:spPr>
      </p:sp>
      <p:sp>
        <p:nvSpPr>
          <p:cNvPr id="9" name="Text 7"/>
          <p:cNvSpPr txBox="1"/>
          <p:nvPr/>
        </p:nvSpPr>
        <p:spPr>
          <a:xfrm>
            <a:off x="658368" y="3337560"/>
            <a:ext cx="1197864" cy="1005840"/>
          </a:xfrm>
          <a:prstGeom prst="rect">
            <a:avLst/>
          </a:prstGeom>
          <a:noFill/>
          <a:ln/>
        </p:spPr>
        <p:txBody>
          <a:bodyPr wrap="square" lIns="0" tIns="0" rIns="0" bIns="0" rtlCol="0" anchor="ctr"/>
          <a:lstStyle/>
          <a:p>
            <a:pPr algn="ctr" indent="0" marL="0">
              <a:buNone/>
            </a:pPr>
            <a:r>
              <a:rPr lang="en-US" sz="1400" b="1" dirty="0">
                <a:solidFill>
                  <a:srgbClr val="1B1A24"/>
                </a:solidFill>
              </a:rPr>
              <a:t>Browser</a:t>
            </a:r>
            <a:endParaRPr lang="en-US" sz="1400" dirty="0"/>
          </a:p>
          <a:p>
            <a:pPr algn="ctr" indent="0" marL="0">
              <a:buNone/>
            </a:pPr>
            <a:r>
              <a:rPr lang="en-US" sz="1100" dirty="0">
                <a:solidFill>
                  <a:srgbClr val="1B1A24"/>
                </a:solidFill>
              </a:rPr>
              <a:t>fellow.localhost</a:t>
            </a:r>
            <a:endParaRPr lang="en-US" sz="1400" dirty="0"/>
          </a:p>
        </p:txBody>
      </p:sp>
      <p:sp>
        <p:nvSpPr>
          <p:cNvPr id="10" name="Ingress"/>
          <p:cNvSpPr/>
          <p:nvPr/>
        </p:nvSpPr>
        <p:spPr>
          <a:xfrm>
            <a:off x="2788920" y="3337560"/>
            <a:ext cx="1645920" cy="1005840"/>
          </a:xfrm>
          <a:prstGeom prst="roundRect">
            <a:avLst>
              <a:gd name="adj" fmla="val 12727"/>
            </a:avLst>
          </a:prstGeom>
          <a:solidFill>
            <a:srgbClr val="F2C14E"/>
          </a:solidFill>
          <a:ln w="12700">
            <a:solidFill>
              <a:srgbClr val="F2C14E"/>
            </a:solidFill>
            <a:prstDash val="solid"/>
          </a:ln>
        </p:spPr>
      </p:sp>
      <p:sp>
        <p:nvSpPr>
          <p:cNvPr id="11" name="Text 9"/>
          <p:cNvSpPr txBox="1"/>
          <p:nvPr/>
        </p:nvSpPr>
        <p:spPr>
          <a:xfrm>
            <a:off x="2898648" y="3337560"/>
            <a:ext cx="1426464" cy="1005840"/>
          </a:xfrm>
          <a:prstGeom prst="rect">
            <a:avLst/>
          </a:prstGeom>
          <a:noFill/>
          <a:ln/>
        </p:spPr>
        <p:txBody>
          <a:bodyPr wrap="square" lIns="0" tIns="0" rIns="0" bIns="0" rtlCol="0" anchor="ctr"/>
          <a:lstStyle/>
          <a:p>
            <a:pPr algn="ctr" indent="0" marL="0">
              <a:buNone/>
            </a:pPr>
            <a:r>
              <a:rPr lang="en-US" sz="1400" b="1" dirty="0">
                <a:solidFill>
                  <a:srgbClr val="1B1A24"/>
                </a:solidFill>
              </a:rPr>
              <a:t>Ingress</a:t>
            </a:r>
            <a:endParaRPr lang="en-US" sz="1400" dirty="0"/>
          </a:p>
          <a:p>
            <a:pPr algn="ctr" indent="0" marL="0">
              <a:buNone/>
            </a:pPr>
            <a:r>
              <a:rPr lang="en-US" sz="1100" dirty="0">
                <a:solidFill>
                  <a:srgbClr val="1B1A24"/>
                </a:solidFill>
              </a:rPr>
              <a:t>nginx controller</a:t>
            </a:r>
            <a:endParaRPr lang="en-US" sz="1400" dirty="0"/>
          </a:p>
        </p:txBody>
      </p:sp>
      <p:sp>
        <p:nvSpPr>
          <p:cNvPr id="12" name="Frontend x2"/>
          <p:cNvSpPr/>
          <p:nvPr/>
        </p:nvSpPr>
        <p:spPr>
          <a:xfrm>
            <a:off x="4937760" y="2377440"/>
            <a:ext cx="1920240" cy="1005840"/>
          </a:xfrm>
          <a:prstGeom prst="roundRect">
            <a:avLst>
              <a:gd name="adj" fmla="val 12727"/>
            </a:avLst>
          </a:prstGeom>
          <a:solidFill>
            <a:srgbClr val="FFBDC5"/>
          </a:solidFill>
          <a:ln w="12700">
            <a:solidFill>
              <a:srgbClr val="FFBDC5"/>
            </a:solidFill>
            <a:prstDash val="solid"/>
          </a:ln>
        </p:spPr>
      </p:sp>
      <p:sp>
        <p:nvSpPr>
          <p:cNvPr id="13" name="Text 11"/>
          <p:cNvSpPr txBox="1"/>
          <p:nvPr/>
        </p:nvSpPr>
        <p:spPr>
          <a:xfrm>
            <a:off x="5047488" y="2377440"/>
            <a:ext cx="1700784" cy="1005840"/>
          </a:xfrm>
          <a:prstGeom prst="rect">
            <a:avLst/>
          </a:prstGeom>
          <a:noFill/>
          <a:ln/>
        </p:spPr>
        <p:txBody>
          <a:bodyPr wrap="square" lIns="0" tIns="0" rIns="0" bIns="0" rtlCol="0" anchor="ctr"/>
          <a:lstStyle/>
          <a:p>
            <a:pPr algn="ctr" indent="0" marL="0">
              <a:buNone/>
            </a:pPr>
            <a:r>
              <a:rPr lang="en-US" sz="1400" b="1" dirty="0">
                <a:solidFill>
                  <a:srgbClr val="1B1A24"/>
                </a:solidFill>
              </a:rPr>
              <a:t>Frontend x2</a:t>
            </a:r>
            <a:endParaRPr lang="en-US" sz="1400" dirty="0"/>
          </a:p>
          <a:p>
            <a:pPr algn="ctr" indent="0" marL="0">
              <a:buNone/>
            </a:pPr>
            <a:r>
              <a:rPr lang="en-US" sz="1100" dirty="0">
                <a:solidFill>
                  <a:srgbClr val="1B1A24"/>
                </a:solidFill>
              </a:rPr>
              <a:t>React on nginx</a:t>
            </a:r>
            <a:endParaRPr lang="en-US" sz="1400" dirty="0"/>
          </a:p>
        </p:txBody>
      </p:sp>
      <p:sp>
        <p:nvSpPr>
          <p:cNvPr id="14" name="Backend x2-6"/>
          <p:cNvSpPr/>
          <p:nvPr/>
        </p:nvSpPr>
        <p:spPr>
          <a:xfrm>
            <a:off x="4937760" y="4206240"/>
            <a:ext cx="1920240" cy="1005840"/>
          </a:xfrm>
          <a:prstGeom prst="roundRect">
            <a:avLst>
              <a:gd name="adj" fmla="val 12727"/>
            </a:avLst>
          </a:prstGeom>
          <a:solidFill>
            <a:srgbClr val="4C9DB0"/>
          </a:solidFill>
          <a:ln w="12700">
            <a:solidFill>
              <a:srgbClr val="4C9DB0"/>
            </a:solidFill>
            <a:prstDash val="solid"/>
          </a:ln>
        </p:spPr>
      </p:sp>
      <p:sp>
        <p:nvSpPr>
          <p:cNvPr id="15" name="Text 13"/>
          <p:cNvSpPr txBox="1"/>
          <p:nvPr/>
        </p:nvSpPr>
        <p:spPr>
          <a:xfrm>
            <a:off x="5047488" y="4206240"/>
            <a:ext cx="1700784" cy="1005840"/>
          </a:xfrm>
          <a:prstGeom prst="rect">
            <a:avLst/>
          </a:prstGeom>
          <a:noFill/>
          <a:ln/>
        </p:spPr>
        <p:txBody>
          <a:bodyPr wrap="square" lIns="0" tIns="0" rIns="0" bIns="0" rtlCol="0" anchor="ctr"/>
          <a:lstStyle/>
          <a:p>
            <a:pPr algn="ctr" indent="0" marL="0">
              <a:buNone/>
            </a:pPr>
            <a:r>
              <a:rPr lang="en-US" sz="1400" b="1" dirty="0">
                <a:solidFill>
                  <a:srgbClr val="1B1A24"/>
                </a:solidFill>
              </a:rPr>
              <a:t>Backend x2-6</a:t>
            </a:r>
            <a:endParaRPr lang="en-US" sz="1400" dirty="0"/>
          </a:p>
          <a:p>
            <a:pPr algn="ctr" indent="0" marL="0">
              <a:buNone/>
            </a:pPr>
            <a:r>
              <a:rPr lang="en-US" sz="1100" dirty="0">
                <a:solidFill>
                  <a:srgbClr val="1B1A24"/>
                </a:solidFill>
              </a:rPr>
              <a:t>FastAPI + HPA</a:t>
            </a:r>
            <a:endParaRPr lang="en-US" sz="1400" dirty="0"/>
          </a:p>
        </p:txBody>
      </p:sp>
      <p:sp>
        <p:nvSpPr>
          <p:cNvPr id="16" name="PostgreSQL"/>
          <p:cNvSpPr/>
          <p:nvPr/>
        </p:nvSpPr>
        <p:spPr>
          <a:xfrm>
            <a:off x="7452360" y="4206240"/>
            <a:ext cx="1783080" cy="1005840"/>
          </a:xfrm>
          <a:prstGeom prst="roundRect">
            <a:avLst>
              <a:gd name="adj" fmla="val 12727"/>
            </a:avLst>
          </a:prstGeom>
          <a:solidFill>
            <a:srgbClr val="C69FD5"/>
          </a:solidFill>
          <a:ln w="12700">
            <a:solidFill>
              <a:srgbClr val="C69FD5"/>
            </a:solidFill>
            <a:prstDash val="solid"/>
          </a:ln>
        </p:spPr>
      </p:sp>
      <p:sp>
        <p:nvSpPr>
          <p:cNvPr id="17" name="Text 15"/>
          <p:cNvSpPr txBox="1"/>
          <p:nvPr/>
        </p:nvSpPr>
        <p:spPr>
          <a:xfrm>
            <a:off x="7562088" y="4206240"/>
            <a:ext cx="1563624" cy="1005840"/>
          </a:xfrm>
          <a:prstGeom prst="rect">
            <a:avLst/>
          </a:prstGeom>
          <a:noFill/>
          <a:ln/>
        </p:spPr>
        <p:txBody>
          <a:bodyPr wrap="square" lIns="0" tIns="0" rIns="0" bIns="0" rtlCol="0" anchor="ctr"/>
          <a:lstStyle/>
          <a:p>
            <a:pPr algn="ctr" indent="0" marL="0">
              <a:buNone/>
            </a:pPr>
            <a:r>
              <a:rPr lang="en-US" sz="1400" b="1" dirty="0">
                <a:solidFill>
                  <a:srgbClr val="1B1A24"/>
                </a:solidFill>
              </a:rPr>
              <a:t>PostgreSQL</a:t>
            </a:r>
            <a:endParaRPr lang="en-US" sz="1400" dirty="0"/>
          </a:p>
          <a:p>
            <a:pPr algn="ctr" indent="0" marL="0">
              <a:buNone/>
            </a:pPr>
            <a:r>
              <a:rPr lang="en-US" sz="1100" dirty="0">
                <a:solidFill>
                  <a:srgbClr val="1B1A24"/>
                </a:solidFill>
              </a:rPr>
              <a:t>StatefulSet + PVC</a:t>
            </a:r>
            <a:endParaRPr lang="en-US" sz="1400" dirty="0"/>
          </a:p>
        </p:txBody>
      </p:sp>
      <p:sp>
        <p:nvSpPr>
          <p:cNvPr id="18" name="Prometheus"/>
          <p:cNvSpPr/>
          <p:nvPr/>
        </p:nvSpPr>
        <p:spPr>
          <a:xfrm>
            <a:off x="7452360" y="2377440"/>
            <a:ext cx="1783080" cy="1005840"/>
          </a:xfrm>
          <a:prstGeom prst="roundRect">
            <a:avLst>
              <a:gd name="adj" fmla="val 12727"/>
            </a:avLst>
          </a:prstGeom>
          <a:solidFill>
            <a:srgbClr val="F7D9A6"/>
          </a:solidFill>
          <a:ln w="12700">
            <a:solidFill>
              <a:srgbClr val="F7D9A6"/>
            </a:solidFill>
            <a:prstDash val="solid"/>
          </a:ln>
        </p:spPr>
      </p:sp>
      <p:sp>
        <p:nvSpPr>
          <p:cNvPr id="19" name="Text 17"/>
          <p:cNvSpPr txBox="1"/>
          <p:nvPr/>
        </p:nvSpPr>
        <p:spPr>
          <a:xfrm>
            <a:off x="7562088" y="2377440"/>
            <a:ext cx="1563624" cy="1005840"/>
          </a:xfrm>
          <a:prstGeom prst="rect">
            <a:avLst/>
          </a:prstGeom>
          <a:noFill/>
          <a:ln/>
        </p:spPr>
        <p:txBody>
          <a:bodyPr wrap="square" lIns="0" tIns="0" rIns="0" bIns="0" rtlCol="0" anchor="ctr"/>
          <a:lstStyle/>
          <a:p>
            <a:pPr algn="ctr" indent="0" marL="0">
              <a:buNone/>
            </a:pPr>
            <a:r>
              <a:rPr lang="en-US" sz="1400" b="1" dirty="0">
                <a:solidFill>
                  <a:srgbClr val="1B1A24"/>
                </a:solidFill>
              </a:rPr>
              <a:t>Prometheus</a:t>
            </a:r>
            <a:endParaRPr lang="en-US" sz="1400" dirty="0"/>
          </a:p>
          <a:p>
            <a:pPr algn="ctr" indent="0" marL="0">
              <a:buNone/>
            </a:pPr>
            <a:r>
              <a:rPr lang="en-US" sz="1100" dirty="0">
                <a:solidFill>
                  <a:srgbClr val="1B1A24"/>
                </a:solidFill>
              </a:rPr>
              <a:t>scrapes /metrics</a:t>
            </a:r>
            <a:endParaRPr lang="en-US" sz="1400" dirty="0"/>
          </a:p>
        </p:txBody>
      </p:sp>
      <p:sp>
        <p:nvSpPr>
          <p:cNvPr id="20" name="Grafana"/>
          <p:cNvSpPr/>
          <p:nvPr/>
        </p:nvSpPr>
        <p:spPr>
          <a:xfrm>
            <a:off x="9646920" y="2377440"/>
            <a:ext cx="1554480" cy="1005840"/>
          </a:xfrm>
          <a:prstGeom prst="roundRect">
            <a:avLst>
              <a:gd name="adj" fmla="val 12727"/>
            </a:avLst>
          </a:prstGeom>
          <a:solidFill>
            <a:srgbClr val="F7D9A6"/>
          </a:solidFill>
          <a:ln w="12700">
            <a:solidFill>
              <a:srgbClr val="F7D9A6"/>
            </a:solidFill>
            <a:prstDash val="solid"/>
          </a:ln>
        </p:spPr>
      </p:sp>
      <p:sp>
        <p:nvSpPr>
          <p:cNvPr id="21" name="Text 19"/>
          <p:cNvSpPr txBox="1"/>
          <p:nvPr/>
        </p:nvSpPr>
        <p:spPr>
          <a:xfrm>
            <a:off x="9756648" y="2377440"/>
            <a:ext cx="1335024" cy="1005840"/>
          </a:xfrm>
          <a:prstGeom prst="rect">
            <a:avLst/>
          </a:prstGeom>
          <a:noFill/>
          <a:ln/>
        </p:spPr>
        <p:txBody>
          <a:bodyPr wrap="square" lIns="0" tIns="0" rIns="0" bIns="0" rtlCol="0" anchor="ctr"/>
          <a:lstStyle/>
          <a:p>
            <a:pPr algn="ctr" indent="0" marL="0">
              <a:buNone/>
            </a:pPr>
            <a:r>
              <a:rPr lang="en-US" sz="1400" b="1" dirty="0">
                <a:solidFill>
                  <a:srgbClr val="1B1A24"/>
                </a:solidFill>
              </a:rPr>
              <a:t>Grafana</a:t>
            </a:r>
            <a:endParaRPr lang="en-US" sz="1400" dirty="0"/>
          </a:p>
          <a:p>
            <a:pPr algn="ctr" indent="0" marL="0">
              <a:buNone/>
            </a:pPr>
            <a:r>
              <a:rPr lang="en-US" sz="1100" dirty="0">
                <a:solidFill>
                  <a:srgbClr val="1B1A24"/>
                </a:solidFill>
              </a:rPr>
              <a:t>13-panel board</a:t>
            </a:r>
            <a:endParaRPr lang="en-US" sz="1400" dirty="0"/>
          </a:p>
        </p:txBody>
      </p:sp>
      <p:sp>
        <p:nvSpPr>
          <p:cNvPr id="22" name="Argo CD"/>
          <p:cNvSpPr/>
          <p:nvPr/>
        </p:nvSpPr>
        <p:spPr>
          <a:xfrm>
            <a:off x="9646920" y="4206240"/>
            <a:ext cx="1554480" cy="1005840"/>
          </a:xfrm>
          <a:prstGeom prst="roundRect">
            <a:avLst>
              <a:gd name="adj" fmla="val 12727"/>
            </a:avLst>
          </a:prstGeom>
          <a:solidFill>
            <a:srgbClr val="DCEFF3"/>
          </a:solidFill>
          <a:ln w="12700">
            <a:solidFill>
              <a:srgbClr val="DCEFF3"/>
            </a:solidFill>
            <a:prstDash val="solid"/>
          </a:ln>
        </p:spPr>
      </p:sp>
      <p:sp>
        <p:nvSpPr>
          <p:cNvPr id="23" name="Text 21"/>
          <p:cNvSpPr txBox="1"/>
          <p:nvPr/>
        </p:nvSpPr>
        <p:spPr>
          <a:xfrm>
            <a:off x="9756648" y="4206240"/>
            <a:ext cx="1335024" cy="1005840"/>
          </a:xfrm>
          <a:prstGeom prst="rect">
            <a:avLst/>
          </a:prstGeom>
          <a:noFill/>
          <a:ln/>
        </p:spPr>
        <p:txBody>
          <a:bodyPr wrap="square" lIns="0" tIns="0" rIns="0" bIns="0" rtlCol="0" anchor="ctr"/>
          <a:lstStyle/>
          <a:p>
            <a:pPr algn="ctr" indent="0" marL="0">
              <a:buNone/>
            </a:pPr>
            <a:r>
              <a:rPr lang="en-US" sz="1400" b="1" dirty="0">
                <a:solidFill>
                  <a:srgbClr val="1B1A24"/>
                </a:solidFill>
              </a:rPr>
              <a:t>Argo CD</a:t>
            </a:r>
            <a:endParaRPr lang="en-US" sz="1400" dirty="0"/>
          </a:p>
          <a:p>
            <a:pPr algn="ctr" indent="0" marL="0">
              <a:buNone/>
            </a:pPr>
            <a:r>
              <a:rPr lang="en-US" sz="1100" dirty="0">
                <a:solidFill>
                  <a:srgbClr val="1B1A24"/>
                </a:solidFill>
              </a:rPr>
              <a:t>syncs from Git</a:t>
            </a:r>
            <a:endParaRPr lang="en-US" sz="1400" dirty="0"/>
          </a:p>
        </p:txBody>
      </p:sp>
      <p:sp>
        <p:nvSpPr>
          <p:cNvPr id="24" name="Arrow"/>
          <p:cNvSpPr/>
          <p:nvPr/>
        </p:nvSpPr>
        <p:spPr>
          <a:xfrm>
            <a:off x="1965960" y="3840480"/>
            <a:ext cx="822960" cy="914"/>
          </a:xfrm>
          <a:prstGeom prst="line">
            <a:avLst/>
          </a:prstGeom>
          <a:noFill/>
          <a:ln w="22225">
            <a:solidFill>
              <a:srgbClr val="FFFFFF"/>
            </a:solidFill>
            <a:prstDash val="solid"/>
            <a:tailEnd type="triangle"/>
          </a:ln>
        </p:spPr>
      </p:sp>
      <p:sp>
        <p:nvSpPr>
          <p:cNvPr id="25" name="Arrow"/>
          <p:cNvSpPr/>
          <p:nvPr/>
        </p:nvSpPr>
        <p:spPr>
          <a:xfrm flipV="1">
            <a:off x="4434840" y="2926080"/>
            <a:ext cx="502920" cy="685800"/>
          </a:xfrm>
          <a:prstGeom prst="line">
            <a:avLst/>
          </a:prstGeom>
          <a:noFill/>
          <a:ln w="22225">
            <a:solidFill>
              <a:srgbClr val="FFFFFF"/>
            </a:solidFill>
            <a:prstDash val="solid"/>
            <a:tailEnd type="triangle"/>
          </a:ln>
        </p:spPr>
      </p:sp>
      <p:sp>
        <p:nvSpPr>
          <p:cNvPr id="26" name="Arrow"/>
          <p:cNvSpPr/>
          <p:nvPr/>
        </p:nvSpPr>
        <p:spPr>
          <a:xfrm>
            <a:off x="4434840" y="4069080"/>
            <a:ext cx="502920" cy="594360"/>
          </a:xfrm>
          <a:prstGeom prst="line">
            <a:avLst/>
          </a:prstGeom>
          <a:noFill/>
          <a:ln w="22225">
            <a:solidFill>
              <a:srgbClr val="FFFFFF"/>
            </a:solidFill>
            <a:prstDash val="solid"/>
            <a:tailEnd type="triangle"/>
          </a:ln>
        </p:spPr>
      </p:sp>
      <p:sp>
        <p:nvSpPr>
          <p:cNvPr id="27" name="Text 25"/>
          <p:cNvSpPr txBox="1"/>
          <p:nvPr/>
        </p:nvSpPr>
        <p:spPr>
          <a:xfrm>
            <a:off x="4343400" y="2926080"/>
            <a:ext cx="457200" cy="274320"/>
          </a:xfrm>
          <a:prstGeom prst="rect">
            <a:avLst/>
          </a:prstGeom>
          <a:noFill/>
          <a:ln/>
        </p:spPr>
        <p:txBody>
          <a:bodyPr wrap="square" lIns="0" tIns="0" rIns="0" bIns="0" rtlCol="0" anchor="ctr"/>
          <a:lstStyle/>
          <a:p>
            <a:pPr indent="0" marL="0">
              <a:buNone/>
            </a:pPr>
            <a:r>
              <a:rPr lang="en-US" sz="1100" b="1" dirty="0">
                <a:solidFill>
                  <a:srgbClr val="FFBDC5"/>
                </a:solidFill>
              </a:rPr>
              <a:t>/</a:t>
            </a:r>
            <a:endParaRPr lang="en-US" sz="1100" dirty="0"/>
          </a:p>
        </p:txBody>
      </p:sp>
      <p:sp>
        <p:nvSpPr>
          <p:cNvPr id="28" name="Text 26"/>
          <p:cNvSpPr txBox="1"/>
          <p:nvPr/>
        </p:nvSpPr>
        <p:spPr>
          <a:xfrm>
            <a:off x="4297680" y="4617720"/>
            <a:ext cx="548640" cy="274320"/>
          </a:xfrm>
          <a:prstGeom prst="rect">
            <a:avLst/>
          </a:prstGeom>
          <a:noFill/>
          <a:ln/>
        </p:spPr>
        <p:txBody>
          <a:bodyPr wrap="square" lIns="0" tIns="0" rIns="0" bIns="0" rtlCol="0" anchor="ctr"/>
          <a:lstStyle/>
          <a:p>
            <a:pPr indent="0" marL="0">
              <a:buNone/>
            </a:pPr>
            <a:r>
              <a:rPr lang="en-US" sz="1100" b="1" dirty="0">
                <a:solidFill>
                  <a:srgbClr val="4C9DB0"/>
                </a:solidFill>
              </a:rPr>
              <a:t>/api</a:t>
            </a:r>
            <a:endParaRPr lang="en-US" sz="1100" dirty="0"/>
          </a:p>
        </p:txBody>
      </p:sp>
      <p:sp>
        <p:nvSpPr>
          <p:cNvPr id="29" name="Arrow"/>
          <p:cNvSpPr/>
          <p:nvPr/>
        </p:nvSpPr>
        <p:spPr>
          <a:xfrm>
            <a:off x="6858000" y="4709160"/>
            <a:ext cx="594360" cy="914"/>
          </a:xfrm>
          <a:prstGeom prst="line">
            <a:avLst/>
          </a:prstGeom>
          <a:noFill/>
          <a:ln w="22225">
            <a:solidFill>
              <a:srgbClr val="FFFFFF"/>
            </a:solidFill>
            <a:prstDash val="solid"/>
            <a:tailEnd type="triangle"/>
          </a:ln>
        </p:spPr>
      </p:sp>
      <p:sp>
        <p:nvSpPr>
          <p:cNvPr id="30" name="Arrow"/>
          <p:cNvSpPr/>
          <p:nvPr/>
        </p:nvSpPr>
        <p:spPr>
          <a:xfrm flipH="1">
            <a:off x="6858000" y="3337560"/>
            <a:ext cx="594360" cy="868680"/>
          </a:xfrm>
          <a:prstGeom prst="line">
            <a:avLst/>
          </a:prstGeom>
          <a:noFill/>
          <a:ln w="22225">
            <a:solidFill>
              <a:srgbClr val="F7D9A6"/>
            </a:solidFill>
            <a:prstDash val="solid"/>
            <a:tailEnd type="triangle"/>
          </a:ln>
        </p:spPr>
      </p:sp>
      <p:sp>
        <p:nvSpPr>
          <p:cNvPr id="31" name="Arrow"/>
          <p:cNvSpPr/>
          <p:nvPr/>
        </p:nvSpPr>
        <p:spPr>
          <a:xfrm>
            <a:off x="9235440" y="2880360"/>
            <a:ext cx="411480" cy="914"/>
          </a:xfrm>
          <a:prstGeom prst="line">
            <a:avLst/>
          </a:prstGeom>
          <a:noFill/>
          <a:ln w="22225">
            <a:solidFill>
              <a:srgbClr val="F7D9A6"/>
            </a:solidFill>
            <a:prstDash val="solid"/>
            <a:tailEnd type="triangle"/>
          </a:ln>
        </p:spPr>
      </p:sp>
      <p:sp>
        <p:nvSpPr>
          <p:cNvPr id="25" name="Slide Number Placeholder 0"/>
          <p:cNvSpPr>
            <a:spLocks noGrp="1"/>
          </p:cNvSpPr>
          <p:nvPr>
            <p:ph type="sldNum" sz="quarter" idx="4294967295"/>
          </p:nvPr>
        </p:nvSpPr>
        <p:spPr>
          <a:xfrm>
            <a:off x="112471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AEB8C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28600"/>
            <a:ext cx="5486400" cy="274320"/>
          </a:xfrm>
          <a:prstGeom prst="rect">
            <a:avLst/>
          </a:prstGeom>
          <a:noFill/>
          <a:ln/>
        </p:spPr>
        <p:txBody>
          <a:bodyPr wrap="square" lIns="0" tIns="0" rIns="0" bIns="0" rtlCol="0" anchor="ctr"/>
          <a:lstStyle/>
          <a:p>
            <a:pPr indent="0" marL="0">
              <a:buNone/>
            </a:pPr>
            <a:r>
              <a:rPr lang="en-US" sz="1100" b="1" spc="300" kern="0" dirty="0">
                <a:solidFill>
                  <a:srgbClr val="2E7A8C"/>
                </a:solidFill>
                <a:latin typeface="Calibri" pitchFamily="34" charset="0"/>
                <a:ea typeface="Calibri" pitchFamily="34" charset="-122"/>
                <a:cs typeface="Calibri" pitchFamily="34" charset="-120"/>
              </a:rPr>
              <a:t>CI/CD AND GITOPS</a:t>
            </a:r>
            <a:endParaRPr lang="en-US" sz="1100" dirty="0"/>
          </a:p>
        </p:txBody>
      </p:sp>
      <p:sp>
        <p:nvSpPr>
          <p:cNvPr id="3" name="Title"/>
          <p:cNvSpPr txBox="1"/>
          <p:nvPr/>
        </p:nvSpPr>
        <p:spPr>
          <a:xfrm>
            <a:off x="548640" y="411480"/>
            <a:ext cx="7772400" cy="822960"/>
          </a:xfrm>
          <a:prstGeom prst="rect">
            <a:avLst/>
          </a:prstGeom>
          <a:noFill/>
          <a:ln/>
        </p:spPr>
        <p:txBody>
          <a:bodyPr wrap="square" lIns="0" tIns="0" rIns="0" bIns="0" rtlCol="0" anchor="ctr"/>
          <a:lstStyle/>
          <a:p>
            <a:pPr indent="0" marL="0">
              <a:buNone/>
            </a:pPr>
            <a:r>
              <a:rPr lang="en-US" sz="3200" b="1" dirty="0">
                <a:solidFill>
                  <a:srgbClr val="1B1A24"/>
                </a:solidFill>
                <a:latin typeface="Roboto Mono" pitchFamily="34" charset="0"/>
                <a:ea typeface="Roboto Mono" pitchFamily="34" charset="-122"/>
                <a:cs typeface="Roboto Mono" pitchFamily="34" charset="-120"/>
              </a:rPr>
              <a:t>Push once, </a:t>
            </a:r>
            <a:pPr indent="0" marL="0">
              <a:buNone/>
            </a:pPr>
            <a:r>
              <a:rPr lang="en-US" sz="3200" b="1" dirty="0">
                <a:solidFill>
                  <a:srgbClr val="2E7A8C"/>
                </a:solidFill>
                <a:latin typeface="Roboto Mono" pitchFamily="34" charset="0"/>
                <a:ea typeface="Roboto Mono" pitchFamily="34" charset="-122"/>
                <a:cs typeface="Roboto Mono" pitchFamily="34" charset="-120"/>
              </a:rPr>
              <a:t>ship safely</a:t>
            </a:r>
            <a:endParaRPr lang="en-US" sz="3200" dirty="0"/>
          </a:p>
        </p:txBody>
      </p:sp>
      <p:sp>
        <p:nvSpPr>
          <p:cNvPr id="4" name="Step number"/>
          <p:cNvSpPr/>
          <p:nvPr/>
        </p:nvSpPr>
        <p:spPr>
          <a:xfrm>
            <a:off x="996696" y="1554480"/>
            <a:ext cx="585216" cy="585216"/>
          </a:xfrm>
          <a:prstGeom prst="ellipse">
            <a:avLst/>
          </a:prstGeom>
          <a:solidFill>
            <a:srgbClr val="FFBDC5"/>
          </a:solidFill>
          <a:ln w="12700">
            <a:solidFill>
              <a:srgbClr val="FFBDC5"/>
            </a:solidFill>
            <a:prstDash val="solid"/>
          </a:ln>
        </p:spPr>
      </p:sp>
      <p:sp>
        <p:nvSpPr>
          <p:cNvPr id="5" name="Text 3"/>
          <p:cNvSpPr txBox="1"/>
          <p:nvPr/>
        </p:nvSpPr>
        <p:spPr>
          <a:xfrm>
            <a:off x="996696" y="1554480"/>
            <a:ext cx="585216" cy="585216"/>
          </a:xfrm>
          <a:prstGeom prst="rect">
            <a:avLst/>
          </a:prstGeom>
          <a:noFill/>
          <a:ln/>
        </p:spPr>
        <p:txBody>
          <a:bodyPr wrap="square" lIns="0" tIns="0" rIns="0" bIns="0" rtlCol="0" anchor="ctr"/>
          <a:lstStyle/>
          <a:p>
            <a:pPr algn="ctr" indent="0" marL="0">
              <a:buNone/>
            </a:pPr>
            <a:r>
              <a:rPr lang="en-US" sz="2000" dirty="0">
                <a:solidFill>
                  <a:srgbClr val="1B1A24"/>
                </a:solidFill>
                <a:latin typeface="Roboto Mono" pitchFamily="34" charset="0"/>
                <a:ea typeface="Roboto Mono" pitchFamily="34" charset="-122"/>
                <a:cs typeface="Roboto Mono" pitchFamily="34" charset="-120"/>
              </a:rPr>
              <a:t>1</a:t>
            </a:r>
            <a:endParaRPr lang="en-US" sz="2000" dirty="0"/>
          </a:p>
        </p:txBody>
      </p:sp>
      <p:sp>
        <p:nvSpPr>
          <p:cNvPr id="6" name="Connector"/>
          <p:cNvSpPr/>
          <p:nvPr/>
        </p:nvSpPr>
        <p:spPr>
          <a:xfrm>
            <a:off x="1655064" y="1847088"/>
            <a:ext cx="886968" cy="0"/>
          </a:xfrm>
          <a:prstGeom prst="line">
            <a:avLst/>
          </a:prstGeom>
          <a:noFill/>
          <a:ln w="19050">
            <a:solidFill>
              <a:srgbClr val="D8D2DD"/>
            </a:solidFill>
            <a:prstDash val="dash"/>
          </a:ln>
        </p:spPr>
      </p:sp>
      <p:sp>
        <p:nvSpPr>
          <p:cNvPr id="7" name="Text 5"/>
          <p:cNvSpPr txBox="1"/>
          <p:nvPr/>
        </p:nvSpPr>
        <p:spPr>
          <a:xfrm>
            <a:off x="548640" y="2240280"/>
            <a:ext cx="1481328" cy="365760"/>
          </a:xfrm>
          <a:prstGeom prst="rect">
            <a:avLst/>
          </a:prstGeom>
          <a:noFill/>
          <a:ln/>
        </p:spPr>
        <p:txBody>
          <a:bodyPr wrap="square" lIns="0" tIns="0" rIns="0" bIns="0" rtlCol="0" anchor="ctr"/>
          <a:lstStyle/>
          <a:p>
            <a:pPr algn="ctr" indent="0" marL="0">
              <a:buNone/>
            </a:pPr>
            <a:r>
              <a:rPr lang="en-US" sz="1500" b="1" dirty="0">
                <a:solidFill>
                  <a:srgbClr val="1B1A24"/>
                </a:solidFill>
              </a:rPr>
              <a:t>Push</a:t>
            </a:r>
            <a:endParaRPr lang="en-US" sz="1500" dirty="0"/>
          </a:p>
        </p:txBody>
      </p:sp>
      <p:sp>
        <p:nvSpPr>
          <p:cNvPr id="8" name="Text 6"/>
          <p:cNvSpPr txBox="1"/>
          <p:nvPr/>
        </p:nvSpPr>
        <p:spPr>
          <a:xfrm>
            <a:off x="548640" y="2606040"/>
            <a:ext cx="1481328" cy="548640"/>
          </a:xfrm>
          <a:prstGeom prst="rect">
            <a:avLst/>
          </a:prstGeom>
          <a:noFill/>
          <a:ln/>
        </p:spPr>
        <p:txBody>
          <a:bodyPr wrap="square" lIns="0" tIns="0" rIns="0" bIns="0" rtlCol="0" anchor="t"/>
          <a:lstStyle/>
          <a:p>
            <a:pPr algn="ctr" indent="0" marL="0">
              <a:buNone/>
            </a:pPr>
            <a:r>
              <a:rPr lang="en-US" sz="1200" dirty="0">
                <a:solidFill>
                  <a:srgbClr val="6B6475"/>
                </a:solidFill>
              </a:rPr>
              <a:t>git push to main</a:t>
            </a:r>
            <a:endParaRPr lang="en-US" sz="1200" dirty="0"/>
          </a:p>
        </p:txBody>
      </p:sp>
      <p:sp>
        <p:nvSpPr>
          <p:cNvPr id="9" name="Step number"/>
          <p:cNvSpPr/>
          <p:nvPr/>
        </p:nvSpPr>
        <p:spPr>
          <a:xfrm>
            <a:off x="2615184" y="1554480"/>
            <a:ext cx="585216" cy="585216"/>
          </a:xfrm>
          <a:prstGeom prst="ellipse">
            <a:avLst/>
          </a:prstGeom>
          <a:solidFill>
            <a:srgbClr val="F2C14E"/>
          </a:solidFill>
          <a:ln w="12700">
            <a:solidFill>
              <a:srgbClr val="F2C14E"/>
            </a:solidFill>
            <a:prstDash val="solid"/>
          </a:ln>
        </p:spPr>
      </p:sp>
      <p:sp>
        <p:nvSpPr>
          <p:cNvPr id="10" name="Text 8"/>
          <p:cNvSpPr txBox="1"/>
          <p:nvPr/>
        </p:nvSpPr>
        <p:spPr>
          <a:xfrm>
            <a:off x="2615184" y="1554480"/>
            <a:ext cx="585216" cy="585216"/>
          </a:xfrm>
          <a:prstGeom prst="rect">
            <a:avLst/>
          </a:prstGeom>
          <a:noFill/>
          <a:ln/>
        </p:spPr>
        <p:txBody>
          <a:bodyPr wrap="square" lIns="0" tIns="0" rIns="0" bIns="0" rtlCol="0" anchor="ctr"/>
          <a:lstStyle/>
          <a:p>
            <a:pPr algn="ctr" indent="0" marL="0">
              <a:buNone/>
            </a:pPr>
            <a:r>
              <a:rPr lang="en-US" sz="2000" dirty="0">
                <a:solidFill>
                  <a:srgbClr val="1B1A24"/>
                </a:solidFill>
                <a:latin typeface="Roboto Mono" pitchFamily="34" charset="0"/>
                <a:ea typeface="Roboto Mono" pitchFamily="34" charset="-122"/>
                <a:cs typeface="Roboto Mono" pitchFamily="34" charset="-120"/>
              </a:rPr>
              <a:t>2</a:t>
            </a:r>
            <a:endParaRPr lang="en-US" sz="2000" dirty="0"/>
          </a:p>
        </p:txBody>
      </p:sp>
      <p:sp>
        <p:nvSpPr>
          <p:cNvPr id="11" name="Connector"/>
          <p:cNvSpPr/>
          <p:nvPr/>
        </p:nvSpPr>
        <p:spPr>
          <a:xfrm>
            <a:off x="3273552" y="1847088"/>
            <a:ext cx="886968" cy="0"/>
          </a:xfrm>
          <a:prstGeom prst="line">
            <a:avLst/>
          </a:prstGeom>
          <a:noFill/>
          <a:ln w="19050">
            <a:solidFill>
              <a:srgbClr val="D8D2DD"/>
            </a:solidFill>
            <a:prstDash val="dash"/>
          </a:ln>
        </p:spPr>
      </p:sp>
      <p:sp>
        <p:nvSpPr>
          <p:cNvPr id="12" name="Text 10"/>
          <p:cNvSpPr txBox="1"/>
          <p:nvPr/>
        </p:nvSpPr>
        <p:spPr>
          <a:xfrm>
            <a:off x="2167128" y="2240280"/>
            <a:ext cx="1481328" cy="365760"/>
          </a:xfrm>
          <a:prstGeom prst="rect">
            <a:avLst/>
          </a:prstGeom>
          <a:noFill/>
          <a:ln/>
        </p:spPr>
        <p:txBody>
          <a:bodyPr wrap="square" lIns="0" tIns="0" rIns="0" bIns="0" rtlCol="0" anchor="ctr"/>
          <a:lstStyle/>
          <a:p>
            <a:pPr algn="ctr" indent="0" marL="0">
              <a:buNone/>
            </a:pPr>
            <a:r>
              <a:rPr lang="en-US" sz="1500" b="1" dirty="0">
                <a:solidFill>
                  <a:srgbClr val="1B1A24"/>
                </a:solidFill>
              </a:rPr>
              <a:t>Test</a:t>
            </a:r>
            <a:endParaRPr lang="en-US" sz="1500" dirty="0"/>
          </a:p>
        </p:txBody>
      </p:sp>
      <p:sp>
        <p:nvSpPr>
          <p:cNvPr id="13" name="Text 11"/>
          <p:cNvSpPr txBox="1"/>
          <p:nvPr/>
        </p:nvSpPr>
        <p:spPr>
          <a:xfrm>
            <a:off x="2167128" y="2606040"/>
            <a:ext cx="1481328" cy="548640"/>
          </a:xfrm>
          <a:prstGeom prst="rect">
            <a:avLst/>
          </a:prstGeom>
          <a:noFill/>
          <a:ln/>
        </p:spPr>
        <p:txBody>
          <a:bodyPr wrap="square" lIns="0" tIns="0" rIns="0" bIns="0" rtlCol="0" anchor="t"/>
          <a:lstStyle/>
          <a:p>
            <a:pPr algn="ctr" indent="0" marL="0">
              <a:buNone/>
            </a:pPr>
            <a:r>
              <a:rPr lang="en-US" sz="1200" dirty="0">
                <a:solidFill>
                  <a:srgbClr val="6B6475"/>
                </a:solidFill>
              </a:rPr>
              <a:t>pytest + frontend build</a:t>
            </a:r>
            <a:endParaRPr lang="en-US" sz="1200" dirty="0"/>
          </a:p>
        </p:txBody>
      </p:sp>
      <p:sp>
        <p:nvSpPr>
          <p:cNvPr id="14" name="Step number"/>
          <p:cNvSpPr/>
          <p:nvPr/>
        </p:nvSpPr>
        <p:spPr>
          <a:xfrm>
            <a:off x="4233672" y="1554480"/>
            <a:ext cx="585216" cy="585216"/>
          </a:xfrm>
          <a:prstGeom prst="ellipse">
            <a:avLst/>
          </a:prstGeom>
          <a:solidFill>
            <a:srgbClr val="C69FD5"/>
          </a:solidFill>
          <a:ln w="12700">
            <a:solidFill>
              <a:srgbClr val="C69FD5"/>
            </a:solidFill>
            <a:prstDash val="solid"/>
          </a:ln>
        </p:spPr>
      </p:sp>
      <p:sp>
        <p:nvSpPr>
          <p:cNvPr id="15" name="Text 13"/>
          <p:cNvSpPr txBox="1"/>
          <p:nvPr/>
        </p:nvSpPr>
        <p:spPr>
          <a:xfrm>
            <a:off x="4233672" y="1554480"/>
            <a:ext cx="585216" cy="585216"/>
          </a:xfrm>
          <a:prstGeom prst="rect">
            <a:avLst/>
          </a:prstGeom>
          <a:noFill/>
          <a:ln/>
        </p:spPr>
        <p:txBody>
          <a:bodyPr wrap="square" lIns="0" tIns="0" rIns="0" bIns="0" rtlCol="0" anchor="ctr"/>
          <a:lstStyle/>
          <a:p>
            <a:pPr algn="ctr" indent="0" marL="0">
              <a:buNone/>
            </a:pPr>
            <a:r>
              <a:rPr lang="en-US" sz="2000" dirty="0">
                <a:solidFill>
                  <a:srgbClr val="1B1A24"/>
                </a:solidFill>
                <a:latin typeface="Roboto Mono" pitchFamily="34" charset="0"/>
                <a:ea typeface="Roboto Mono" pitchFamily="34" charset="-122"/>
                <a:cs typeface="Roboto Mono" pitchFamily="34" charset="-120"/>
              </a:rPr>
              <a:t>3</a:t>
            </a:r>
            <a:endParaRPr lang="en-US" sz="2000" dirty="0"/>
          </a:p>
        </p:txBody>
      </p:sp>
      <p:sp>
        <p:nvSpPr>
          <p:cNvPr id="16" name="Connector"/>
          <p:cNvSpPr/>
          <p:nvPr/>
        </p:nvSpPr>
        <p:spPr>
          <a:xfrm>
            <a:off x="4892040" y="1847088"/>
            <a:ext cx="886968" cy="0"/>
          </a:xfrm>
          <a:prstGeom prst="line">
            <a:avLst/>
          </a:prstGeom>
          <a:noFill/>
          <a:ln w="19050">
            <a:solidFill>
              <a:srgbClr val="D8D2DD"/>
            </a:solidFill>
            <a:prstDash val="dash"/>
          </a:ln>
        </p:spPr>
      </p:sp>
      <p:sp>
        <p:nvSpPr>
          <p:cNvPr id="17" name="Text 15"/>
          <p:cNvSpPr txBox="1"/>
          <p:nvPr/>
        </p:nvSpPr>
        <p:spPr>
          <a:xfrm>
            <a:off x="3785616" y="2240280"/>
            <a:ext cx="1481328" cy="365760"/>
          </a:xfrm>
          <a:prstGeom prst="rect">
            <a:avLst/>
          </a:prstGeom>
          <a:noFill/>
          <a:ln/>
        </p:spPr>
        <p:txBody>
          <a:bodyPr wrap="square" lIns="0" tIns="0" rIns="0" bIns="0" rtlCol="0" anchor="ctr"/>
          <a:lstStyle/>
          <a:p>
            <a:pPr algn="ctr" indent="0" marL="0">
              <a:buNone/>
            </a:pPr>
            <a:r>
              <a:rPr lang="en-US" sz="1500" b="1" dirty="0">
                <a:solidFill>
                  <a:srgbClr val="1B1A24"/>
                </a:solidFill>
              </a:rPr>
              <a:t>Build</a:t>
            </a:r>
            <a:endParaRPr lang="en-US" sz="1500" dirty="0"/>
          </a:p>
        </p:txBody>
      </p:sp>
      <p:sp>
        <p:nvSpPr>
          <p:cNvPr id="18" name="Text 16"/>
          <p:cNvSpPr txBox="1"/>
          <p:nvPr/>
        </p:nvSpPr>
        <p:spPr>
          <a:xfrm>
            <a:off x="3785616" y="2606040"/>
            <a:ext cx="1481328" cy="548640"/>
          </a:xfrm>
          <a:prstGeom prst="rect">
            <a:avLst/>
          </a:prstGeom>
          <a:noFill/>
          <a:ln/>
        </p:spPr>
        <p:txBody>
          <a:bodyPr wrap="square" lIns="0" tIns="0" rIns="0" bIns="0" rtlCol="0" anchor="t"/>
          <a:lstStyle/>
          <a:p>
            <a:pPr algn="ctr" indent="0" marL="0">
              <a:buNone/>
            </a:pPr>
            <a:r>
              <a:rPr lang="en-US" sz="1200" dirty="0">
                <a:solidFill>
                  <a:srgbClr val="6B6475"/>
                </a:solidFill>
              </a:rPr>
              <a:t>two Docker images</a:t>
            </a:r>
            <a:endParaRPr lang="en-US" sz="1200" dirty="0"/>
          </a:p>
        </p:txBody>
      </p:sp>
      <p:sp>
        <p:nvSpPr>
          <p:cNvPr id="19" name="Step number"/>
          <p:cNvSpPr/>
          <p:nvPr/>
        </p:nvSpPr>
        <p:spPr>
          <a:xfrm>
            <a:off x="5852160" y="1554480"/>
            <a:ext cx="585216" cy="585216"/>
          </a:xfrm>
          <a:prstGeom prst="ellipse">
            <a:avLst/>
          </a:prstGeom>
          <a:solidFill>
            <a:srgbClr val="FFBDC5"/>
          </a:solidFill>
          <a:ln w="12700">
            <a:solidFill>
              <a:srgbClr val="FFBDC5"/>
            </a:solidFill>
            <a:prstDash val="solid"/>
          </a:ln>
        </p:spPr>
      </p:sp>
      <p:sp>
        <p:nvSpPr>
          <p:cNvPr id="20" name="Text 18"/>
          <p:cNvSpPr txBox="1"/>
          <p:nvPr/>
        </p:nvSpPr>
        <p:spPr>
          <a:xfrm>
            <a:off x="5852160" y="1554480"/>
            <a:ext cx="585216" cy="585216"/>
          </a:xfrm>
          <a:prstGeom prst="rect">
            <a:avLst/>
          </a:prstGeom>
          <a:noFill/>
          <a:ln/>
        </p:spPr>
        <p:txBody>
          <a:bodyPr wrap="square" lIns="0" tIns="0" rIns="0" bIns="0" rtlCol="0" anchor="ctr"/>
          <a:lstStyle/>
          <a:p>
            <a:pPr algn="ctr" indent="0" marL="0">
              <a:buNone/>
            </a:pPr>
            <a:r>
              <a:rPr lang="en-US" sz="2000" dirty="0">
                <a:solidFill>
                  <a:srgbClr val="1B1A24"/>
                </a:solidFill>
                <a:latin typeface="Roboto Mono" pitchFamily="34" charset="0"/>
                <a:ea typeface="Roboto Mono" pitchFamily="34" charset="-122"/>
                <a:cs typeface="Roboto Mono" pitchFamily="34" charset="-120"/>
              </a:rPr>
              <a:t>4</a:t>
            </a:r>
            <a:endParaRPr lang="en-US" sz="2000" dirty="0"/>
          </a:p>
        </p:txBody>
      </p:sp>
      <p:sp>
        <p:nvSpPr>
          <p:cNvPr id="21" name="Connector"/>
          <p:cNvSpPr/>
          <p:nvPr/>
        </p:nvSpPr>
        <p:spPr>
          <a:xfrm>
            <a:off x="6510528" y="1847088"/>
            <a:ext cx="886968" cy="0"/>
          </a:xfrm>
          <a:prstGeom prst="line">
            <a:avLst/>
          </a:prstGeom>
          <a:noFill/>
          <a:ln w="19050">
            <a:solidFill>
              <a:srgbClr val="D8D2DD"/>
            </a:solidFill>
            <a:prstDash val="dash"/>
          </a:ln>
        </p:spPr>
      </p:sp>
      <p:sp>
        <p:nvSpPr>
          <p:cNvPr id="22" name="Text 20"/>
          <p:cNvSpPr txBox="1"/>
          <p:nvPr/>
        </p:nvSpPr>
        <p:spPr>
          <a:xfrm>
            <a:off x="5404104" y="2240280"/>
            <a:ext cx="1481328" cy="365760"/>
          </a:xfrm>
          <a:prstGeom prst="rect">
            <a:avLst/>
          </a:prstGeom>
          <a:noFill/>
          <a:ln/>
        </p:spPr>
        <p:txBody>
          <a:bodyPr wrap="square" lIns="0" tIns="0" rIns="0" bIns="0" rtlCol="0" anchor="ctr"/>
          <a:lstStyle/>
          <a:p>
            <a:pPr algn="ctr" indent="0" marL="0">
              <a:buNone/>
            </a:pPr>
            <a:r>
              <a:rPr lang="en-US" sz="1500" b="1" dirty="0">
                <a:solidFill>
                  <a:srgbClr val="1B1A24"/>
                </a:solidFill>
              </a:rPr>
              <a:t>Scan</a:t>
            </a:r>
            <a:endParaRPr lang="en-US" sz="1500" dirty="0"/>
          </a:p>
        </p:txBody>
      </p:sp>
      <p:sp>
        <p:nvSpPr>
          <p:cNvPr id="23" name="Text 21"/>
          <p:cNvSpPr txBox="1"/>
          <p:nvPr/>
        </p:nvSpPr>
        <p:spPr>
          <a:xfrm>
            <a:off x="5404104" y="2606040"/>
            <a:ext cx="1481328" cy="548640"/>
          </a:xfrm>
          <a:prstGeom prst="rect">
            <a:avLst/>
          </a:prstGeom>
          <a:noFill/>
          <a:ln/>
        </p:spPr>
        <p:txBody>
          <a:bodyPr wrap="square" lIns="0" tIns="0" rIns="0" bIns="0" rtlCol="0" anchor="t"/>
          <a:lstStyle/>
          <a:p>
            <a:pPr algn="ctr" indent="0" marL="0">
              <a:buNone/>
            </a:pPr>
            <a:r>
              <a:rPr lang="en-US" sz="1200" dirty="0">
                <a:solidFill>
                  <a:srgbClr val="6B6475"/>
                </a:solidFill>
              </a:rPr>
              <a:t>Trivy, fail on HIGH</a:t>
            </a:r>
            <a:endParaRPr lang="en-US" sz="1200" dirty="0"/>
          </a:p>
        </p:txBody>
      </p:sp>
      <p:sp>
        <p:nvSpPr>
          <p:cNvPr id="24" name="Step number"/>
          <p:cNvSpPr/>
          <p:nvPr/>
        </p:nvSpPr>
        <p:spPr>
          <a:xfrm>
            <a:off x="7470648" y="1554480"/>
            <a:ext cx="585216" cy="585216"/>
          </a:xfrm>
          <a:prstGeom prst="ellipse">
            <a:avLst/>
          </a:prstGeom>
          <a:solidFill>
            <a:srgbClr val="4C9DB0"/>
          </a:solidFill>
          <a:ln w="12700">
            <a:solidFill>
              <a:srgbClr val="4C9DB0"/>
            </a:solidFill>
            <a:prstDash val="solid"/>
          </a:ln>
        </p:spPr>
      </p:sp>
      <p:sp>
        <p:nvSpPr>
          <p:cNvPr id="25" name="Text 23"/>
          <p:cNvSpPr txBox="1"/>
          <p:nvPr/>
        </p:nvSpPr>
        <p:spPr>
          <a:xfrm>
            <a:off x="7470648" y="1554480"/>
            <a:ext cx="585216" cy="585216"/>
          </a:xfrm>
          <a:prstGeom prst="rect">
            <a:avLst/>
          </a:prstGeom>
          <a:noFill/>
          <a:ln/>
        </p:spPr>
        <p:txBody>
          <a:bodyPr wrap="square" lIns="0" tIns="0" rIns="0" bIns="0" rtlCol="0" anchor="ctr"/>
          <a:lstStyle/>
          <a:p>
            <a:pPr algn="ctr" indent="0" marL="0">
              <a:buNone/>
            </a:pPr>
            <a:r>
              <a:rPr lang="en-US" sz="2000" dirty="0">
                <a:solidFill>
                  <a:srgbClr val="1B1A24"/>
                </a:solidFill>
                <a:latin typeface="Roboto Mono" pitchFamily="34" charset="0"/>
                <a:ea typeface="Roboto Mono" pitchFamily="34" charset="-122"/>
                <a:cs typeface="Roboto Mono" pitchFamily="34" charset="-120"/>
              </a:rPr>
              <a:t>5</a:t>
            </a:r>
            <a:endParaRPr lang="en-US" sz="2000" dirty="0"/>
          </a:p>
        </p:txBody>
      </p:sp>
      <p:sp>
        <p:nvSpPr>
          <p:cNvPr id="26" name="Connector"/>
          <p:cNvSpPr/>
          <p:nvPr/>
        </p:nvSpPr>
        <p:spPr>
          <a:xfrm>
            <a:off x="8129016" y="1847088"/>
            <a:ext cx="886968" cy="0"/>
          </a:xfrm>
          <a:prstGeom prst="line">
            <a:avLst/>
          </a:prstGeom>
          <a:noFill/>
          <a:ln w="19050">
            <a:solidFill>
              <a:srgbClr val="D8D2DD"/>
            </a:solidFill>
            <a:prstDash val="dash"/>
          </a:ln>
        </p:spPr>
      </p:sp>
      <p:sp>
        <p:nvSpPr>
          <p:cNvPr id="27" name="Text 25"/>
          <p:cNvSpPr txBox="1"/>
          <p:nvPr/>
        </p:nvSpPr>
        <p:spPr>
          <a:xfrm>
            <a:off x="7022592" y="2240280"/>
            <a:ext cx="1481328" cy="365760"/>
          </a:xfrm>
          <a:prstGeom prst="rect">
            <a:avLst/>
          </a:prstGeom>
          <a:noFill/>
          <a:ln/>
        </p:spPr>
        <p:txBody>
          <a:bodyPr wrap="square" lIns="0" tIns="0" rIns="0" bIns="0" rtlCol="0" anchor="ctr"/>
          <a:lstStyle/>
          <a:p>
            <a:pPr algn="ctr" indent="0" marL="0">
              <a:buNone/>
            </a:pPr>
            <a:r>
              <a:rPr lang="en-US" sz="1500" b="1" dirty="0">
                <a:solidFill>
                  <a:srgbClr val="1B1A24"/>
                </a:solidFill>
              </a:rPr>
              <a:t>Publish</a:t>
            </a:r>
            <a:endParaRPr lang="en-US" sz="1500" dirty="0"/>
          </a:p>
        </p:txBody>
      </p:sp>
      <p:sp>
        <p:nvSpPr>
          <p:cNvPr id="28" name="Text 26"/>
          <p:cNvSpPr txBox="1"/>
          <p:nvPr/>
        </p:nvSpPr>
        <p:spPr>
          <a:xfrm>
            <a:off x="7022592" y="2606040"/>
            <a:ext cx="1481328" cy="548640"/>
          </a:xfrm>
          <a:prstGeom prst="rect">
            <a:avLst/>
          </a:prstGeom>
          <a:noFill/>
          <a:ln/>
        </p:spPr>
        <p:txBody>
          <a:bodyPr wrap="square" lIns="0" tIns="0" rIns="0" bIns="0" rtlCol="0" anchor="t"/>
          <a:lstStyle/>
          <a:p>
            <a:pPr algn="ctr" indent="0" marL="0">
              <a:buNone/>
            </a:pPr>
            <a:r>
              <a:rPr lang="en-US" sz="1200" dirty="0">
                <a:solidFill>
                  <a:srgbClr val="6B6475"/>
                </a:solidFill>
              </a:rPr>
              <a:t>GHCR, tag = commit SHA</a:t>
            </a:r>
            <a:endParaRPr lang="en-US" sz="1200" dirty="0"/>
          </a:p>
        </p:txBody>
      </p:sp>
      <p:sp>
        <p:nvSpPr>
          <p:cNvPr id="29" name="Step number"/>
          <p:cNvSpPr/>
          <p:nvPr/>
        </p:nvSpPr>
        <p:spPr>
          <a:xfrm>
            <a:off x="9089136" y="1554480"/>
            <a:ext cx="585216" cy="585216"/>
          </a:xfrm>
          <a:prstGeom prst="ellipse">
            <a:avLst/>
          </a:prstGeom>
          <a:solidFill>
            <a:srgbClr val="F2C14E"/>
          </a:solidFill>
          <a:ln w="12700">
            <a:solidFill>
              <a:srgbClr val="F2C14E"/>
            </a:solidFill>
            <a:prstDash val="solid"/>
          </a:ln>
        </p:spPr>
      </p:sp>
      <p:sp>
        <p:nvSpPr>
          <p:cNvPr id="30" name="Text 28"/>
          <p:cNvSpPr txBox="1"/>
          <p:nvPr/>
        </p:nvSpPr>
        <p:spPr>
          <a:xfrm>
            <a:off x="9089136" y="1554480"/>
            <a:ext cx="585216" cy="585216"/>
          </a:xfrm>
          <a:prstGeom prst="rect">
            <a:avLst/>
          </a:prstGeom>
          <a:noFill/>
          <a:ln/>
        </p:spPr>
        <p:txBody>
          <a:bodyPr wrap="square" lIns="0" tIns="0" rIns="0" bIns="0" rtlCol="0" anchor="ctr"/>
          <a:lstStyle/>
          <a:p>
            <a:pPr algn="ctr" indent="0" marL="0">
              <a:buNone/>
            </a:pPr>
            <a:r>
              <a:rPr lang="en-US" sz="2000" dirty="0">
                <a:solidFill>
                  <a:srgbClr val="1B1A24"/>
                </a:solidFill>
                <a:latin typeface="Roboto Mono" pitchFamily="34" charset="0"/>
                <a:ea typeface="Roboto Mono" pitchFamily="34" charset="-122"/>
                <a:cs typeface="Roboto Mono" pitchFamily="34" charset="-120"/>
              </a:rPr>
              <a:t>6</a:t>
            </a:r>
            <a:endParaRPr lang="en-US" sz="2000" dirty="0"/>
          </a:p>
        </p:txBody>
      </p:sp>
      <p:sp>
        <p:nvSpPr>
          <p:cNvPr id="31" name="Connector"/>
          <p:cNvSpPr/>
          <p:nvPr/>
        </p:nvSpPr>
        <p:spPr>
          <a:xfrm>
            <a:off x="9747504" y="1847088"/>
            <a:ext cx="886968" cy="0"/>
          </a:xfrm>
          <a:prstGeom prst="line">
            <a:avLst/>
          </a:prstGeom>
          <a:noFill/>
          <a:ln w="19050">
            <a:solidFill>
              <a:srgbClr val="D8D2DD"/>
            </a:solidFill>
            <a:prstDash val="dash"/>
          </a:ln>
        </p:spPr>
      </p:sp>
      <p:sp>
        <p:nvSpPr>
          <p:cNvPr id="32" name="Text 30"/>
          <p:cNvSpPr txBox="1"/>
          <p:nvPr/>
        </p:nvSpPr>
        <p:spPr>
          <a:xfrm>
            <a:off x="8641080" y="2240280"/>
            <a:ext cx="1481328" cy="365760"/>
          </a:xfrm>
          <a:prstGeom prst="rect">
            <a:avLst/>
          </a:prstGeom>
          <a:noFill/>
          <a:ln/>
        </p:spPr>
        <p:txBody>
          <a:bodyPr wrap="square" lIns="0" tIns="0" rIns="0" bIns="0" rtlCol="0" anchor="ctr"/>
          <a:lstStyle/>
          <a:p>
            <a:pPr algn="ctr" indent="0" marL="0">
              <a:buNone/>
            </a:pPr>
            <a:r>
              <a:rPr lang="en-US" sz="1500" b="1" dirty="0">
                <a:solidFill>
                  <a:srgbClr val="1B1A24"/>
                </a:solidFill>
              </a:rPr>
              <a:t>Promote</a:t>
            </a:r>
            <a:endParaRPr lang="en-US" sz="1500" dirty="0"/>
          </a:p>
        </p:txBody>
      </p:sp>
      <p:sp>
        <p:nvSpPr>
          <p:cNvPr id="33" name="Text 31"/>
          <p:cNvSpPr txBox="1"/>
          <p:nvPr/>
        </p:nvSpPr>
        <p:spPr>
          <a:xfrm>
            <a:off x="8641080" y="2606040"/>
            <a:ext cx="1481328" cy="548640"/>
          </a:xfrm>
          <a:prstGeom prst="rect">
            <a:avLst/>
          </a:prstGeom>
          <a:noFill/>
          <a:ln/>
        </p:spPr>
        <p:txBody>
          <a:bodyPr wrap="square" lIns="0" tIns="0" rIns="0" bIns="0" rtlCol="0" anchor="t"/>
          <a:lstStyle/>
          <a:p>
            <a:pPr algn="ctr" indent="0" marL="0">
              <a:buNone/>
            </a:pPr>
            <a:r>
              <a:rPr lang="en-US" sz="1200" dirty="0">
                <a:solidFill>
                  <a:srgbClr val="6B6475"/>
                </a:solidFill>
              </a:rPr>
              <a:t>bot commits the new tag</a:t>
            </a:r>
            <a:endParaRPr lang="en-US" sz="1200" dirty="0"/>
          </a:p>
        </p:txBody>
      </p:sp>
      <p:sp>
        <p:nvSpPr>
          <p:cNvPr id="34" name="Step number"/>
          <p:cNvSpPr/>
          <p:nvPr/>
        </p:nvSpPr>
        <p:spPr>
          <a:xfrm>
            <a:off x="10707624" y="1554480"/>
            <a:ext cx="585216" cy="585216"/>
          </a:xfrm>
          <a:prstGeom prst="ellipse">
            <a:avLst/>
          </a:prstGeom>
          <a:solidFill>
            <a:srgbClr val="C69FD5"/>
          </a:solidFill>
          <a:ln w="12700">
            <a:solidFill>
              <a:srgbClr val="C69FD5"/>
            </a:solidFill>
            <a:prstDash val="solid"/>
          </a:ln>
        </p:spPr>
      </p:sp>
      <p:sp>
        <p:nvSpPr>
          <p:cNvPr id="35" name="Text 33"/>
          <p:cNvSpPr txBox="1"/>
          <p:nvPr/>
        </p:nvSpPr>
        <p:spPr>
          <a:xfrm>
            <a:off x="10707624" y="1554480"/>
            <a:ext cx="585216" cy="585216"/>
          </a:xfrm>
          <a:prstGeom prst="rect">
            <a:avLst/>
          </a:prstGeom>
          <a:noFill/>
          <a:ln/>
        </p:spPr>
        <p:txBody>
          <a:bodyPr wrap="square" lIns="0" tIns="0" rIns="0" bIns="0" rtlCol="0" anchor="ctr"/>
          <a:lstStyle/>
          <a:p>
            <a:pPr algn="ctr" indent="0" marL="0">
              <a:buNone/>
            </a:pPr>
            <a:r>
              <a:rPr lang="en-US" sz="2000" dirty="0">
                <a:solidFill>
                  <a:srgbClr val="1B1A24"/>
                </a:solidFill>
                <a:latin typeface="Roboto Mono" pitchFamily="34" charset="0"/>
                <a:ea typeface="Roboto Mono" pitchFamily="34" charset="-122"/>
                <a:cs typeface="Roboto Mono" pitchFamily="34" charset="-120"/>
              </a:rPr>
              <a:t>7</a:t>
            </a:r>
            <a:endParaRPr lang="en-US" sz="2000" dirty="0"/>
          </a:p>
        </p:txBody>
      </p:sp>
      <p:sp>
        <p:nvSpPr>
          <p:cNvPr id="36" name="Text 34"/>
          <p:cNvSpPr txBox="1"/>
          <p:nvPr/>
        </p:nvSpPr>
        <p:spPr>
          <a:xfrm>
            <a:off x="10259568" y="2240280"/>
            <a:ext cx="1481328" cy="365760"/>
          </a:xfrm>
          <a:prstGeom prst="rect">
            <a:avLst/>
          </a:prstGeom>
          <a:noFill/>
          <a:ln/>
        </p:spPr>
        <p:txBody>
          <a:bodyPr wrap="square" lIns="0" tIns="0" rIns="0" bIns="0" rtlCol="0" anchor="ctr"/>
          <a:lstStyle/>
          <a:p>
            <a:pPr algn="ctr" indent="0" marL="0">
              <a:buNone/>
            </a:pPr>
            <a:r>
              <a:rPr lang="en-US" sz="1500" b="1" dirty="0">
                <a:solidFill>
                  <a:srgbClr val="1B1A24"/>
                </a:solidFill>
              </a:rPr>
              <a:t>Sync</a:t>
            </a:r>
            <a:endParaRPr lang="en-US" sz="1500" dirty="0"/>
          </a:p>
        </p:txBody>
      </p:sp>
      <p:sp>
        <p:nvSpPr>
          <p:cNvPr id="37" name="Text 35"/>
          <p:cNvSpPr txBox="1"/>
          <p:nvPr/>
        </p:nvSpPr>
        <p:spPr>
          <a:xfrm>
            <a:off x="10259568" y="2606040"/>
            <a:ext cx="1481328" cy="548640"/>
          </a:xfrm>
          <a:prstGeom prst="rect">
            <a:avLst/>
          </a:prstGeom>
          <a:noFill/>
          <a:ln/>
        </p:spPr>
        <p:txBody>
          <a:bodyPr wrap="square" lIns="0" tIns="0" rIns="0" bIns="0" rtlCol="0" anchor="t"/>
          <a:lstStyle/>
          <a:p>
            <a:pPr algn="ctr" indent="0" marL="0">
              <a:buNone/>
            </a:pPr>
            <a:r>
              <a:rPr lang="en-US" sz="1200" dirty="0">
                <a:solidFill>
                  <a:srgbClr val="6B6475"/>
                </a:solidFill>
              </a:rPr>
              <a:t>Argo CD rolls staging</a:t>
            </a:r>
            <a:endParaRPr lang="en-US" sz="1200" dirty="0"/>
          </a:p>
        </p:txBody>
      </p:sp>
      <p:sp>
        <p:nvSpPr>
          <p:cNvPr id="38" name="Sticker frame"/>
          <p:cNvSpPr/>
          <p:nvPr/>
        </p:nvSpPr>
        <p:spPr>
          <a:xfrm>
            <a:off x="4480560" y="3429000"/>
            <a:ext cx="2926080" cy="2706624"/>
          </a:xfrm>
          <a:prstGeom prst="roundRect">
            <a:avLst>
              <a:gd name="adj" fmla="val 6081"/>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pic>
        <p:nvPicPr>
          <p:cNvPr id="39" name="Image 0" descr="Illustration">    </p:cNvPr>
          <p:cNvPicPr>
            <a:picLocks noChangeAspect="1"/>
          </p:cNvPicPr>
          <p:nvPr/>
        </p:nvPicPr>
        <p:blipFill>
          <a:blip r:embed="rId1"/>
          <a:stretch>
            <a:fillRect/>
          </a:stretch>
        </p:blipFill>
        <p:spPr>
          <a:xfrm>
            <a:off x="4590288" y="3538728"/>
            <a:ext cx="2706624" cy="2487168"/>
          </a:xfrm>
          <a:prstGeom prst="rect">
            <a:avLst/>
          </a:prstGeom>
        </p:spPr>
      </p:pic>
      <p:sp>
        <p:nvSpPr>
          <p:cNvPr id="40" name="Text 37"/>
          <p:cNvSpPr txBox="1"/>
          <p:nvPr/>
        </p:nvSpPr>
        <p:spPr>
          <a:xfrm>
            <a:off x="548640" y="3840480"/>
            <a:ext cx="3566160" cy="1463040"/>
          </a:xfrm>
          <a:prstGeom prst="rect">
            <a:avLst/>
          </a:prstGeom>
          <a:noFill/>
          <a:ln/>
        </p:spPr>
        <p:txBody>
          <a:bodyPr wrap="square" lIns="0" tIns="0" rIns="0" bIns="0" rtlCol="0" anchor="ctr"/>
          <a:lstStyle/>
          <a:p>
            <a:pPr indent="0" marL="0">
              <a:buNone/>
            </a:pPr>
            <a:r>
              <a:rPr lang="en-US" sz="4400" dirty="0">
                <a:solidFill>
                  <a:srgbClr val="2E7A8C"/>
                </a:solidFill>
                <a:latin typeface="Roboto Mono" pitchFamily="34" charset="0"/>
                <a:ea typeface="Roboto Mono" pitchFamily="34" charset="-122"/>
                <a:cs typeface="Roboto Mono" pitchFamily="34" charset="-120"/>
              </a:rPr>
              <a:t>5 / 5</a:t>
            </a:r>
            <a:endParaRPr lang="en-US" sz="4400" dirty="0"/>
          </a:p>
          <a:p>
            <a:pPr indent="0" marL="0">
              <a:buNone/>
            </a:pPr>
            <a:r>
              <a:rPr lang="en-US" sz="1400" dirty="0">
                <a:solidFill>
                  <a:srgbClr val="6B6475"/>
                </a:solidFill>
              </a:rPr>
              <a:t>jobs green on every push to main</a:t>
            </a:r>
            <a:endParaRPr lang="en-US" sz="4400" dirty="0"/>
          </a:p>
        </p:txBody>
      </p:sp>
      <p:sp>
        <p:nvSpPr>
          <p:cNvPr id="41" name="Text 38"/>
          <p:cNvSpPr txBox="1"/>
          <p:nvPr/>
        </p:nvSpPr>
        <p:spPr>
          <a:xfrm>
            <a:off x="7955280" y="3840480"/>
            <a:ext cx="3657600" cy="1463040"/>
          </a:xfrm>
          <a:prstGeom prst="rect">
            <a:avLst/>
          </a:prstGeom>
          <a:noFill/>
          <a:ln/>
        </p:spPr>
        <p:txBody>
          <a:bodyPr wrap="square" lIns="0" tIns="0" rIns="0" bIns="0" rtlCol="0" anchor="ctr"/>
          <a:lstStyle/>
          <a:p>
            <a:pPr indent="0" marL="0">
              <a:buNone/>
            </a:pPr>
            <a:r>
              <a:rPr lang="en-US" sz="4400" dirty="0">
                <a:solidFill>
                  <a:srgbClr val="A13C4C"/>
                </a:solidFill>
                <a:latin typeface="Roboto Mono" pitchFamily="34" charset="0"/>
                <a:ea typeface="Roboto Mono" pitchFamily="34" charset="-122"/>
                <a:cs typeface="Roboto Mono" pitchFamily="34" charset="-120"/>
              </a:rPr>
              <a:t>~2 min</a:t>
            </a:r>
            <a:endParaRPr lang="en-US" sz="4400" dirty="0"/>
          </a:p>
          <a:p>
            <a:pPr indent="0" marL="0">
              <a:buNone/>
            </a:pPr>
            <a:r>
              <a:rPr lang="en-US" sz="1400" dirty="0">
                <a:solidFill>
                  <a:srgbClr val="6B6475"/>
                </a:solidFill>
              </a:rPr>
              <a:t>from commit to a pod running it</a:t>
            </a:r>
            <a:endParaRPr lang="en-US" sz="4400" dirty="0"/>
          </a:p>
        </p:txBody>
      </p:sp>
      <p:sp>
        <p:nvSpPr>
          <p:cNvPr id="25" name="Slide Number Placeholder 0"/>
          <p:cNvSpPr>
            <a:spLocks noGrp="1"/>
          </p:cNvSpPr>
          <p:nvPr>
            <p:ph type="sldNum" sz="quarter" idx="4294967295"/>
          </p:nvPr>
        </p:nvSpPr>
        <p:spPr>
          <a:xfrm>
            <a:off x="112471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647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28600"/>
            <a:ext cx="5486400" cy="274320"/>
          </a:xfrm>
          <a:prstGeom prst="rect">
            <a:avLst/>
          </a:prstGeom>
          <a:noFill/>
          <a:ln/>
        </p:spPr>
        <p:txBody>
          <a:bodyPr wrap="square" lIns="0" tIns="0" rIns="0" bIns="0" rtlCol="0" anchor="ctr"/>
          <a:lstStyle/>
          <a:p>
            <a:pPr indent="0" marL="0">
              <a:buNone/>
            </a:pPr>
            <a:r>
              <a:rPr lang="en-US" sz="1100" b="1" spc="300" kern="0" dirty="0">
                <a:solidFill>
                  <a:srgbClr val="2E7A8C"/>
                </a:solidFill>
                <a:latin typeface="Calibri" pitchFamily="34" charset="0"/>
                <a:ea typeface="Calibri" pitchFamily="34" charset="-122"/>
                <a:cs typeface="Calibri" pitchFamily="34" charset="-120"/>
              </a:rPr>
              <a:t>INFRASTRUCTURE AS CODE</a:t>
            </a:r>
            <a:endParaRPr lang="en-US" sz="1100" dirty="0"/>
          </a:p>
        </p:txBody>
      </p:sp>
      <p:sp>
        <p:nvSpPr>
          <p:cNvPr id="3" name="Title"/>
          <p:cNvSpPr txBox="1"/>
          <p:nvPr/>
        </p:nvSpPr>
        <p:spPr>
          <a:xfrm>
            <a:off x="548640" y="411480"/>
            <a:ext cx="7772400" cy="822960"/>
          </a:xfrm>
          <a:prstGeom prst="rect">
            <a:avLst/>
          </a:prstGeom>
          <a:noFill/>
          <a:ln/>
        </p:spPr>
        <p:txBody>
          <a:bodyPr wrap="square" lIns="0" tIns="0" rIns="0" bIns="0" rtlCol="0" anchor="ctr"/>
          <a:lstStyle/>
          <a:p>
            <a:pPr indent="0" marL="0">
              <a:buNone/>
            </a:pPr>
            <a:r>
              <a:rPr lang="en-US" sz="3200" b="1" dirty="0">
                <a:solidFill>
                  <a:srgbClr val="1B1A24"/>
                </a:solidFill>
                <a:latin typeface="Roboto Mono" pitchFamily="34" charset="0"/>
                <a:ea typeface="Roboto Mono" pitchFamily="34" charset="-122"/>
                <a:cs typeface="Roboto Mono" pitchFamily="34" charset="-120"/>
              </a:rPr>
              <a:t>Terraform, </a:t>
            </a:r>
            <a:pPr indent="0" marL="0">
              <a:buNone/>
            </a:pPr>
            <a:r>
              <a:rPr lang="en-US" sz="3200" b="1" dirty="0">
                <a:solidFill>
                  <a:srgbClr val="A13C4C"/>
                </a:solidFill>
                <a:latin typeface="Roboto Mono" pitchFamily="34" charset="0"/>
                <a:ea typeface="Roboto Mono" pitchFamily="34" charset="-122"/>
                <a:cs typeface="Roboto Mono" pitchFamily="34" charset="-120"/>
              </a:rPr>
              <a:t>end to end</a:t>
            </a:r>
            <a:endParaRPr lang="en-US" sz="3200" dirty="0"/>
          </a:p>
        </p:txBody>
      </p:sp>
      <p:sp>
        <p:nvSpPr>
          <p:cNvPr id="4" name="Resource card"/>
          <p:cNvSpPr/>
          <p:nvPr/>
        </p:nvSpPr>
        <p:spPr>
          <a:xfrm>
            <a:off x="548640" y="1463040"/>
            <a:ext cx="4983480" cy="4572000"/>
          </a:xfrm>
          <a:prstGeom prst="roundRect">
            <a:avLst>
              <a:gd name="adj" fmla="val 4000"/>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pic>
        <p:nvPicPr>
          <p:cNvPr id="5" name="Image 0" descr="Terraform">    </p:cNvPr>
          <p:cNvPicPr>
            <a:picLocks noChangeAspect="1"/>
          </p:cNvPicPr>
          <p:nvPr/>
        </p:nvPicPr>
        <p:blipFill>
          <a:blip r:embed="rId1"/>
          <a:stretch>
            <a:fillRect/>
          </a:stretch>
        </p:blipFill>
        <p:spPr>
          <a:xfrm>
            <a:off x="822960" y="1737360"/>
            <a:ext cx="384048" cy="384048"/>
          </a:xfrm>
          <a:prstGeom prst="rect">
            <a:avLst/>
          </a:prstGeom>
        </p:spPr>
      </p:pic>
      <p:sp>
        <p:nvSpPr>
          <p:cNvPr id="6" name="Text 3"/>
          <p:cNvSpPr txBox="1"/>
          <p:nvPr/>
        </p:nvSpPr>
        <p:spPr>
          <a:xfrm>
            <a:off x="1325880" y="1719072"/>
            <a:ext cx="4023360" cy="411480"/>
          </a:xfrm>
          <a:prstGeom prst="rect">
            <a:avLst/>
          </a:prstGeom>
          <a:noFill/>
          <a:ln/>
        </p:spPr>
        <p:txBody>
          <a:bodyPr wrap="square" lIns="0" tIns="0" rIns="0" bIns="0" rtlCol="0" anchor="ctr"/>
          <a:lstStyle/>
          <a:p>
            <a:pPr indent="0" marL="0">
              <a:buNone/>
            </a:pPr>
            <a:r>
              <a:rPr lang="en-US" sz="1600" b="1" dirty="0">
                <a:solidFill>
                  <a:srgbClr val="1B1A24"/>
                </a:solidFill>
              </a:rPr>
              <a:t>What one terraform apply creates</a:t>
            </a:r>
            <a:endParaRPr lang="en-US" sz="1600" dirty="0"/>
          </a:p>
        </p:txBody>
      </p:sp>
      <p:sp>
        <p:nvSpPr>
          <p:cNvPr id="7" name="Text 4"/>
          <p:cNvSpPr txBox="1"/>
          <p:nvPr/>
        </p:nvSpPr>
        <p:spPr>
          <a:xfrm>
            <a:off x="822960" y="2377440"/>
            <a:ext cx="1143000" cy="347472"/>
          </a:xfrm>
          <a:prstGeom prst="roundRect">
            <a:avLst>
              <a:gd name="adj" fmla="val 131579"/>
            </a:avLst>
          </a:prstGeom>
          <a:solidFill>
            <a:srgbClr val="FFF1F3"/>
          </a:solidFill>
          <a:ln>
            <a:solidFill>
              <a:srgbClr val="FFF1F3"/>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VPC</a:t>
            </a:r>
            <a:endParaRPr lang="en-US" sz="1200" dirty="0"/>
          </a:p>
        </p:txBody>
      </p:sp>
      <p:sp>
        <p:nvSpPr>
          <p:cNvPr id="8" name="Text 5"/>
          <p:cNvSpPr txBox="1"/>
          <p:nvPr/>
        </p:nvSpPr>
        <p:spPr>
          <a:xfrm>
            <a:off x="2103120" y="2377440"/>
            <a:ext cx="3291840" cy="347472"/>
          </a:xfrm>
          <a:prstGeom prst="rect">
            <a:avLst/>
          </a:prstGeom>
          <a:noFill/>
          <a:ln/>
        </p:spPr>
        <p:txBody>
          <a:bodyPr wrap="square" lIns="0" tIns="0" rIns="0" bIns="0" rtlCol="0" anchor="ctr"/>
          <a:lstStyle/>
          <a:p>
            <a:pPr indent="0" marL="0">
              <a:buNone/>
            </a:pPr>
            <a:r>
              <a:rPr lang="en-US" sz="1400" dirty="0">
                <a:solidFill>
                  <a:srgbClr val="1B1A24"/>
                </a:solidFill>
              </a:rPr>
              <a:t>10.20.0.0/16 in ap-south-1</a:t>
            </a:r>
            <a:endParaRPr lang="en-US" sz="1400" dirty="0"/>
          </a:p>
        </p:txBody>
      </p:sp>
      <p:sp>
        <p:nvSpPr>
          <p:cNvPr id="9" name="Text 6"/>
          <p:cNvSpPr txBox="1"/>
          <p:nvPr/>
        </p:nvSpPr>
        <p:spPr>
          <a:xfrm>
            <a:off x="822960" y="3063240"/>
            <a:ext cx="1143000" cy="347472"/>
          </a:xfrm>
          <a:prstGeom prst="roundRect">
            <a:avLst>
              <a:gd name="adj" fmla="val 131579"/>
            </a:avLst>
          </a:prstGeom>
          <a:solidFill>
            <a:srgbClr val="F1ECF6"/>
          </a:solidFill>
          <a:ln>
            <a:solidFill>
              <a:srgbClr val="F1ECF6"/>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Subnets</a:t>
            </a:r>
            <a:endParaRPr lang="en-US" sz="1200" dirty="0"/>
          </a:p>
        </p:txBody>
      </p:sp>
      <p:sp>
        <p:nvSpPr>
          <p:cNvPr id="10" name="Text 7"/>
          <p:cNvSpPr txBox="1"/>
          <p:nvPr/>
        </p:nvSpPr>
        <p:spPr>
          <a:xfrm>
            <a:off x="2103120" y="3063240"/>
            <a:ext cx="3291840" cy="347472"/>
          </a:xfrm>
          <a:prstGeom prst="rect">
            <a:avLst/>
          </a:prstGeom>
          <a:noFill/>
          <a:ln/>
        </p:spPr>
        <p:txBody>
          <a:bodyPr wrap="square" lIns="0" tIns="0" rIns="0" bIns="0" rtlCol="0" anchor="ctr"/>
          <a:lstStyle/>
          <a:p>
            <a:pPr indent="0" marL="0">
              <a:buNone/>
            </a:pPr>
            <a:r>
              <a:rPr lang="en-US" sz="1400" dirty="0">
                <a:solidFill>
                  <a:srgbClr val="1B1A24"/>
                </a:solidFill>
              </a:rPr>
              <a:t>2 public + 2 private, 2 AZs</a:t>
            </a:r>
            <a:endParaRPr lang="en-US" sz="1400" dirty="0"/>
          </a:p>
        </p:txBody>
      </p:sp>
      <p:sp>
        <p:nvSpPr>
          <p:cNvPr id="11" name="Text 8"/>
          <p:cNvSpPr txBox="1"/>
          <p:nvPr/>
        </p:nvSpPr>
        <p:spPr>
          <a:xfrm>
            <a:off x="822960" y="3749040"/>
            <a:ext cx="1143000" cy="347472"/>
          </a:xfrm>
          <a:prstGeom prst="roundRect">
            <a:avLst>
              <a:gd name="adj" fmla="val 131579"/>
            </a:avLst>
          </a:prstGeom>
          <a:solidFill>
            <a:srgbClr val="FFF1F3"/>
          </a:solidFill>
          <a:ln>
            <a:solidFill>
              <a:srgbClr val="FFF1F3"/>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Routing</a:t>
            </a:r>
            <a:endParaRPr lang="en-US" sz="1200" dirty="0"/>
          </a:p>
        </p:txBody>
      </p:sp>
      <p:sp>
        <p:nvSpPr>
          <p:cNvPr id="12" name="Text 9"/>
          <p:cNvSpPr txBox="1"/>
          <p:nvPr/>
        </p:nvSpPr>
        <p:spPr>
          <a:xfrm>
            <a:off x="2103120" y="3749040"/>
            <a:ext cx="3291840" cy="347472"/>
          </a:xfrm>
          <a:prstGeom prst="rect">
            <a:avLst/>
          </a:prstGeom>
          <a:noFill/>
          <a:ln/>
        </p:spPr>
        <p:txBody>
          <a:bodyPr wrap="square" lIns="0" tIns="0" rIns="0" bIns="0" rtlCol="0" anchor="ctr"/>
          <a:lstStyle/>
          <a:p>
            <a:pPr indent="0" marL="0">
              <a:buNone/>
            </a:pPr>
            <a:r>
              <a:rPr lang="en-US" sz="1400" dirty="0">
                <a:solidFill>
                  <a:srgbClr val="1B1A24"/>
                </a:solidFill>
              </a:rPr>
              <a:t>internet gateway, NAT, route tables</a:t>
            </a:r>
            <a:endParaRPr lang="en-US" sz="1400" dirty="0"/>
          </a:p>
        </p:txBody>
      </p:sp>
      <p:sp>
        <p:nvSpPr>
          <p:cNvPr id="13" name="Text 10"/>
          <p:cNvSpPr txBox="1"/>
          <p:nvPr/>
        </p:nvSpPr>
        <p:spPr>
          <a:xfrm>
            <a:off x="822960" y="4434840"/>
            <a:ext cx="1143000" cy="347472"/>
          </a:xfrm>
          <a:prstGeom prst="roundRect">
            <a:avLst>
              <a:gd name="adj" fmla="val 131579"/>
            </a:avLst>
          </a:prstGeom>
          <a:solidFill>
            <a:srgbClr val="F1ECF6"/>
          </a:solidFill>
          <a:ln>
            <a:solidFill>
              <a:srgbClr val="F1ECF6"/>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EKS</a:t>
            </a:r>
            <a:endParaRPr lang="en-US" sz="1200" dirty="0"/>
          </a:p>
        </p:txBody>
      </p:sp>
      <p:sp>
        <p:nvSpPr>
          <p:cNvPr id="14" name="Text 11"/>
          <p:cNvSpPr txBox="1"/>
          <p:nvPr/>
        </p:nvSpPr>
        <p:spPr>
          <a:xfrm>
            <a:off x="2103120" y="4434840"/>
            <a:ext cx="3291840" cy="347472"/>
          </a:xfrm>
          <a:prstGeom prst="rect">
            <a:avLst/>
          </a:prstGeom>
          <a:noFill/>
          <a:ln/>
        </p:spPr>
        <p:txBody>
          <a:bodyPr wrap="square" lIns="0" tIns="0" rIns="0" bIns="0" rtlCol="0" anchor="ctr"/>
          <a:lstStyle/>
          <a:p>
            <a:pPr indent="0" marL="0">
              <a:buNone/>
            </a:pPr>
            <a:r>
              <a:rPr lang="en-US" sz="1400" dirty="0">
                <a:solidFill>
                  <a:srgbClr val="1B1A24"/>
                </a:solidFill>
              </a:rPr>
              <a:t>cluster, IAM, node group (switch)</a:t>
            </a:r>
            <a:endParaRPr lang="en-US" sz="1400" dirty="0"/>
          </a:p>
        </p:txBody>
      </p:sp>
      <p:sp>
        <p:nvSpPr>
          <p:cNvPr id="15" name="Text 12"/>
          <p:cNvSpPr txBox="1"/>
          <p:nvPr/>
        </p:nvSpPr>
        <p:spPr>
          <a:xfrm>
            <a:off x="822960" y="5120640"/>
            <a:ext cx="1143000" cy="347472"/>
          </a:xfrm>
          <a:prstGeom prst="roundRect">
            <a:avLst>
              <a:gd name="adj" fmla="val 131579"/>
            </a:avLst>
          </a:prstGeom>
          <a:solidFill>
            <a:srgbClr val="FFF1F3"/>
          </a:solidFill>
          <a:ln>
            <a:solidFill>
              <a:srgbClr val="FFF1F3"/>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kind</a:t>
            </a:r>
            <a:endParaRPr lang="en-US" sz="1200" dirty="0"/>
          </a:p>
        </p:txBody>
      </p:sp>
      <p:sp>
        <p:nvSpPr>
          <p:cNvPr id="16" name="Text 13"/>
          <p:cNvSpPr txBox="1"/>
          <p:nvPr/>
        </p:nvSpPr>
        <p:spPr>
          <a:xfrm>
            <a:off x="2103120" y="5120640"/>
            <a:ext cx="3291840" cy="347472"/>
          </a:xfrm>
          <a:prstGeom prst="rect">
            <a:avLst/>
          </a:prstGeom>
          <a:noFill/>
          <a:ln/>
        </p:spPr>
        <p:txBody>
          <a:bodyPr wrap="square" lIns="0" tIns="0" rIns="0" bIns="0" rtlCol="0" anchor="ctr"/>
          <a:lstStyle/>
          <a:p>
            <a:pPr indent="0" marL="0">
              <a:buNone/>
            </a:pPr>
            <a:r>
              <a:rPr lang="en-US" sz="1400" dirty="0">
                <a:solidFill>
                  <a:srgbClr val="1B1A24"/>
                </a:solidFill>
              </a:rPr>
              <a:t>3 node cluster, ports 80/443</a:t>
            </a:r>
            <a:endParaRPr lang="en-US" sz="1400" dirty="0"/>
          </a:p>
        </p:txBody>
      </p:sp>
      <p:sp>
        <p:nvSpPr>
          <p:cNvPr id="17" name="Sticker frame"/>
          <p:cNvSpPr/>
          <p:nvPr/>
        </p:nvSpPr>
        <p:spPr>
          <a:xfrm>
            <a:off x="5852160" y="1463040"/>
            <a:ext cx="2788920" cy="2331720"/>
          </a:xfrm>
          <a:prstGeom prst="roundRect">
            <a:avLst>
              <a:gd name="adj" fmla="val 7059"/>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pic>
        <p:nvPicPr>
          <p:cNvPr id="18" name="Image 1" descr="Illustration">    </p:cNvPr>
          <p:cNvPicPr>
            <a:picLocks noChangeAspect="1"/>
          </p:cNvPicPr>
          <p:nvPr/>
        </p:nvPicPr>
        <p:blipFill>
          <a:blip r:embed="rId2"/>
          <a:stretch>
            <a:fillRect/>
          </a:stretch>
        </p:blipFill>
        <p:spPr>
          <a:xfrm>
            <a:off x="5943600" y="1554480"/>
            <a:ext cx="2606040" cy="2148840"/>
          </a:xfrm>
          <a:prstGeom prst="rect">
            <a:avLst/>
          </a:prstGeom>
        </p:spPr>
      </p:pic>
      <p:sp>
        <p:nvSpPr>
          <p:cNvPr id="19" name="Text 15"/>
          <p:cNvSpPr txBox="1"/>
          <p:nvPr/>
        </p:nvSpPr>
        <p:spPr>
          <a:xfrm>
            <a:off x="5852160" y="3886200"/>
            <a:ext cx="2788920" cy="320040"/>
          </a:xfrm>
          <a:prstGeom prst="rect">
            <a:avLst/>
          </a:prstGeom>
          <a:noFill/>
          <a:ln/>
        </p:spPr>
        <p:txBody>
          <a:bodyPr wrap="square" lIns="0" tIns="0" rIns="0" bIns="0" rtlCol="0" anchor="ctr"/>
          <a:lstStyle/>
          <a:p>
            <a:pPr algn="ctr" indent="0" marL="0">
              <a:buNone/>
            </a:pPr>
            <a:r>
              <a:rPr lang="en-US" sz="1200" dirty="0">
                <a:solidFill>
                  <a:srgbClr val="6B6475"/>
                </a:solidFill>
                <a:latin typeface="Roboto Mono" pitchFamily="34" charset="0"/>
                <a:ea typeface="Roboto Mono" pitchFamily="34" charset="-122"/>
                <a:cs typeface="Roboto Mono" pitchFamily="34" charset="-120"/>
              </a:rPr>
              <a:t>reviewing terraform plan</a:t>
            </a:r>
            <a:endParaRPr lang="en-US" sz="1200" dirty="0"/>
          </a:p>
        </p:txBody>
      </p:sp>
      <p:sp>
        <p:nvSpPr>
          <p:cNvPr id="20" name="Text 16"/>
          <p:cNvSpPr txBox="1"/>
          <p:nvPr/>
        </p:nvSpPr>
        <p:spPr>
          <a:xfrm>
            <a:off x="8961120" y="1463040"/>
            <a:ext cx="1097280" cy="777240"/>
          </a:xfrm>
          <a:prstGeom prst="rect">
            <a:avLst/>
          </a:prstGeom>
          <a:noFill/>
          <a:ln/>
        </p:spPr>
        <p:txBody>
          <a:bodyPr wrap="square" lIns="0" tIns="0" rIns="0" bIns="0" rtlCol="0" anchor="ctr"/>
          <a:lstStyle/>
          <a:p>
            <a:pPr indent="0" marL="0">
              <a:buNone/>
            </a:pPr>
            <a:r>
              <a:rPr lang="en-US" sz="4400" b="1" dirty="0">
                <a:solidFill>
                  <a:srgbClr val="2E7A8C"/>
                </a:solidFill>
                <a:latin typeface="Roboto Mono" pitchFamily="34" charset="0"/>
                <a:ea typeface="Roboto Mono" pitchFamily="34" charset="-122"/>
                <a:cs typeface="Roboto Mono" pitchFamily="34" charset="-120"/>
              </a:rPr>
              <a:t>15</a:t>
            </a:r>
            <a:endParaRPr lang="en-US" sz="4400" dirty="0"/>
          </a:p>
        </p:txBody>
      </p:sp>
      <p:sp>
        <p:nvSpPr>
          <p:cNvPr id="21" name="Text 17"/>
          <p:cNvSpPr txBox="1"/>
          <p:nvPr/>
        </p:nvSpPr>
        <p:spPr>
          <a:xfrm>
            <a:off x="10058400" y="1463040"/>
            <a:ext cx="1645920" cy="777240"/>
          </a:xfrm>
          <a:prstGeom prst="rect">
            <a:avLst/>
          </a:prstGeom>
          <a:noFill/>
          <a:ln/>
        </p:spPr>
        <p:txBody>
          <a:bodyPr wrap="square" lIns="0" tIns="0" rIns="0" bIns="0" rtlCol="0" anchor="ctr"/>
          <a:lstStyle/>
          <a:p>
            <a:pPr indent="0" marL="0">
              <a:buNone/>
            </a:pPr>
            <a:r>
              <a:rPr lang="en-US" sz="1400" dirty="0">
                <a:solidFill>
                  <a:srgbClr val="1B1A24"/>
                </a:solidFill>
              </a:rPr>
              <a:t>resources applied</a:t>
            </a:r>
            <a:endParaRPr lang="en-US" sz="1400" dirty="0"/>
          </a:p>
        </p:txBody>
      </p:sp>
      <p:sp>
        <p:nvSpPr>
          <p:cNvPr id="22" name="Text 18"/>
          <p:cNvSpPr txBox="1"/>
          <p:nvPr/>
        </p:nvSpPr>
        <p:spPr>
          <a:xfrm>
            <a:off x="8961120" y="2359152"/>
            <a:ext cx="1097280" cy="777240"/>
          </a:xfrm>
          <a:prstGeom prst="rect">
            <a:avLst/>
          </a:prstGeom>
          <a:noFill/>
          <a:ln/>
        </p:spPr>
        <p:txBody>
          <a:bodyPr wrap="square" lIns="0" tIns="0" rIns="0" bIns="0" rtlCol="0" anchor="ctr"/>
          <a:lstStyle/>
          <a:p>
            <a:pPr indent="0" marL="0">
              <a:buNone/>
            </a:pPr>
            <a:r>
              <a:rPr lang="en-US" sz="4400" b="1" dirty="0">
                <a:solidFill>
                  <a:srgbClr val="C69FD5"/>
                </a:solidFill>
                <a:latin typeface="Roboto Mono" pitchFamily="34" charset="0"/>
                <a:ea typeface="Roboto Mono" pitchFamily="34" charset="-122"/>
                <a:cs typeface="Roboto Mono" pitchFamily="34" charset="-120"/>
              </a:rPr>
              <a:t>23</a:t>
            </a:r>
            <a:endParaRPr lang="en-US" sz="4400" dirty="0"/>
          </a:p>
        </p:txBody>
      </p:sp>
      <p:sp>
        <p:nvSpPr>
          <p:cNvPr id="23" name="Text 19"/>
          <p:cNvSpPr txBox="1"/>
          <p:nvPr/>
        </p:nvSpPr>
        <p:spPr>
          <a:xfrm>
            <a:off x="10058400" y="2359152"/>
            <a:ext cx="1645920" cy="777240"/>
          </a:xfrm>
          <a:prstGeom prst="rect">
            <a:avLst/>
          </a:prstGeom>
          <a:noFill/>
          <a:ln/>
        </p:spPr>
        <p:txBody>
          <a:bodyPr wrap="square" lIns="0" tIns="0" rIns="0" bIns="0" rtlCol="0" anchor="ctr"/>
          <a:lstStyle/>
          <a:p>
            <a:pPr indent="0" marL="0">
              <a:buNone/>
            </a:pPr>
            <a:r>
              <a:rPr lang="en-US" sz="1400" dirty="0">
                <a:solidFill>
                  <a:srgbClr val="1B1A24"/>
                </a:solidFill>
              </a:rPr>
              <a:t>with EKS switched on</a:t>
            </a:r>
            <a:endParaRPr lang="en-US" sz="1400" dirty="0"/>
          </a:p>
        </p:txBody>
      </p:sp>
      <p:sp>
        <p:nvSpPr>
          <p:cNvPr id="24" name="Text 20"/>
          <p:cNvSpPr txBox="1"/>
          <p:nvPr/>
        </p:nvSpPr>
        <p:spPr>
          <a:xfrm>
            <a:off x="8961120" y="3255264"/>
            <a:ext cx="1097280" cy="777240"/>
          </a:xfrm>
          <a:prstGeom prst="rect">
            <a:avLst/>
          </a:prstGeom>
          <a:noFill/>
          <a:ln/>
        </p:spPr>
        <p:txBody>
          <a:bodyPr wrap="square" lIns="0" tIns="0" rIns="0" bIns="0" rtlCol="0" anchor="ctr"/>
          <a:lstStyle/>
          <a:p>
            <a:pPr indent="0" marL="0">
              <a:buNone/>
            </a:pPr>
            <a:r>
              <a:rPr lang="en-US" sz="4400" b="1" dirty="0">
                <a:solidFill>
                  <a:srgbClr val="A13C4C"/>
                </a:solidFill>
                <a:latin typeface="Roboto Mono" pitchFamily="34" charset="0"/>
                <a:ea typeface="Roboto Mono" pitchFamily="34" charset="-122"/>
                <a:cs typeface="Roboto Mono" pitchFamily="34" charset="-120"/>
              </a:rPr>
              <a:t>2</a:t>
            </a:r>
            <a:endParaRPr lang="en-US" sz="4400" dirty="0"/>
          </a:p>
        </p:txBody>
      </p:sp>
      <p:sp>
        <p:nvSpPr>
          <p:cNvPr id="25" name="Text 21"/>
          <p:cNvSpPr txBox="1"/>
          <p:nvPr/>
        </p:nvSpPr>
        <p:spPr>
          <a:xfrm>
            <a:off x="10058400" y="3255264"/>
            <a:ext cx="1645920" cy="777240"/>
          </a:xfrm>
          <a:prstGeom prst="rect">
            <a:avLst/>
          </a:prstGeom>
          <a:noFill/>
          <a:ln/>
        </p:spPr>
        <p:txBody>
          <a:bodyPr wrap="square" lIns="0" tIns="0" rIns="0" bIns="0" rtlCol="0" anchor="ctr"/>
          <a:lstStyle/>
          <a:p>
            <a:pPr indent="0" marL="0">
              <a:buNone/>
            </a:pPr>
            <a:r>
              <a:rPr lang="en-US" sz="1400" dirty="0">
                <a:solidFill>
                  <a:srgbClr val="1B1A24"/>
                </a:solidFill>
              </a:rPr>
              <a:t>AZs, one NAT gateway</a:t>
            </a:r>
            <a:endParaRPr lang="en-US" sz="1400" dirty="0"/>
          </a:p>
        </p:txBody>
      </p:sp>
      <p:sp>
        <p:nvSpPr>
          <p:cNvPr id="26" name="Text 22"/>
          <p:cNvSpPr txBox="1"/>
          <p:nvPr/>
        </p:nvSpPr>
        <p:spPr>
          <a:xfrm>
            <a:off x="5852160" y="4754880"/>
            <a:ext cx="1828800" cy="347472"/>
          </a:xfrm>
          <a:prstGeom prst="roundRect">
            <a:avLst>
              <a:gd name="adj" fmla="val 131579"/>
            </a:avLst>
          </a:prstGeom>
          <a:solidFill>
            <a:srgbClr val="1F2A3C"/>
          </a:solidFill>
          <a:ln>
            <a:solidFill>
              <a:srgbClr val="1F2A3C"/>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terraform plan</a:t>
            </a:r>
            <a:endParaRPr lang="en-US" sz="1200" dirty="0"/>
          </a:p>
        </p:txBody>
      </p:sp>
      <p:sp>
        <p:nvSpPr>
          <p:cNvPr id="27" name="Text 23"/>
          <p:cNvSpPr txBox="1"/>
          <p:nvPr/>
        </p:nvSpPr>
        <p:spPr>
          <a:xfrm>
            <a:off x="7818120" y="4754880"/>
            <a:ext cx="1828800" cy="347472"/>
          </a:xfrm>
          <a:prstGeom prst="roundRect">
            <a:avLst>
              <a:gd name="adj" fmla="val 131579"/>
            </a:avLst>
          </a:prstGeom>
          <a:solidFill>
            <a:srgbClr val="1F2A3C"/>
          </a:solidFill>
          <a:ln>
            <a:solidFill>
              <a:srgbClr val="1F2A3C"/>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terraform apply</a:t>
            </a:r>
            <a:endParaRPr lang="en-US" sz="1200" dirty="0"/>
          </a:p>
        </p:txBody>
      </p:sp>
      <p:sp>
        <p:nvSpPr>
          <p:cNvPr id="28" name="Text 24"/>
          <p:cNvSpPr txBox="1"/>
          <p:nvPr/>
        </p:nvSpPr>
        <p:spPr>
          <a:xfrm>
            <a:off x="9784080" y="4754880"/>
            <a:ext cx="1828800" cy="347472"/>
          </a:xfrm>
          <a:prstGeom prst="roundRect">
            <a:avLst>
              <a:gd name="adj" fmla="val 131579"/>
            </a:avLst>
          </a:prstGeom>
          <a:solidFill>
            <a:srgbClr val="1F2A3C"/>
          </a:solidFill>
          <a:ln>
            <a:solidFill>
              <a:srgbClr val="1F2A3C"/>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terraform destroy</a:t>
            </a:r>
            <a:endParaRPr lang="en-US" sz="1200" dirty="0"/>
          </a:p>
        </p:txBody>
      </p:sp>
      <p:sp>
        <p:nvSpPr>
          <p:cNvPr id="29" name="Text 25"/>
          <p:cNvSpPr txBox="1"/>
          <p:nvPr/>
        </p:nvSpPr>
        <p:spPr>
          <a:xfrm>
            <a:off x="5852160" y="5303520"/>
            <a:ext cx="5806440" cy="457200"/>
          </a:xfrm>
          <a:prstGeom prst="rect">
            <a:avLst/>
          </a:prstGeom>
          <a:noFill/>
          <a:ln/>
        </p:spPr>
        <p:txBody>
          <a:bodyPr wrap="square" lIns="0" tIns="0" rIns="0" bIns="0" rtlCol="0" anchor="ctr"/>
          <a:lstStyle/>
          <a:p>
            <a:pPr indent="0" marL="0">
              <a:buNone/>
            </a:pPr>
            <a:r>
              <a:rPr lang="en-US" sz="1400" dirty="0">
                <a:solidFill>
                  <a:srgbClr val="6B6475"/>
                </a:solidFill>
              </a:rPr>
              <a:t>Runs against LocalStack by default; one variable switches it to real AWS.</a:t>
            </a:r>
            <a:endParaRPr lang="en-US" sz="1400" dirty="0"/>
          </a:p>
        </p:txBody>
      </p:sp>
      <p:sp>
        <p:nvSpPr>
          <p:cNvPr id="25" name="Slide Number Placeholder 0"/>
          <p:cNvSpPr>
            <a:spLocks noGrp="1"/>
          </p:cNvSpPr>
          <p:nvPr>
            <p:ph type="sldNum" sz="quarter" idx="4294967295"/>
          </p:nvPr>
        </p:nvSpPr>
        <p:spPr>
          <a:xfrm>
            <a:off x="112471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647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28600"/>
            <a:ext cx="5486400" cy="274320"/>
          </a:xfrm>
          <a:prstGeom prst="rect">
            <a:avLst/>
          </a:prstGeom>
          <a:noFill/>
          <a:ln/>
        </p:spPr>
        <p:txBody>
          <a:bodyPr wrap="square" lIns="0" tIns="0" rIns="0" bIns="0" rtlCol="0" anchor="ctr"/>
          <a:lstStyle/>
          <a:p>
            <a:pPr indent="0" marL="0">
              <a:buNone/>
            </a:pPr>
            <a:r>
              <a:rPr lang="en-US" sz="1100" b="1" spc="300" kern="0" dirty="0">
                <a:solidFill>
                  <a:srgbClr val="2E7A8C"/>
                </a:solidFill>
                <a:latin typeface="Calibri" pitchFamily="34" charset="0"/>
                <a:ea typeface="Calibri" pitchFamily="34" charset="-122"/>
                <a:cs typeface="Calibri" pitchFamily="34" charset="-120"/>
              </a:rPr>
              <a:t>KUBERNETES AND HELM</a:t>
            </a:r>
            <a:endParaRPr lang="en-US" sz="1100" dirty="0"/>
          </a:p>
        </p:txBody>
      </p:sp>
      <p:sp>
        <p:nvSpPr>
          <p:cNvPr id="3" name="Title"/>
          <p:cNvSpPr txBox="1"/>
          <p:nvPr/>
        </p:nvSpPr>
        <p:spPr>
          <a:xfrm>
            <a:off x="548640" y="411480"/>
            <a:ext cx="7772400" cy="822960"/>
          </a:xfrm>
          <a:prstGeom prst="rect">
            <a:avLst/>
          </a:prstGeom>
          <a:noFill/>
          <a:ln/>
        </p:spPr>
        <p:txBody>
          <a:bodyPr wrap="square" lIns="0" tIns="0" rIns="0" bIns="0" rtlCol="0" anchor="ctr"/>
          <a:lstStyle/>
          <a:p>
            <a:pPr indent="0" marL="0">
              <a:buNone/>
            </a:pPr>
            <a:r>
              <a:rPr lang="en-US" sz="3200" b="1" dirty="0">
                <a:solidFill>
                  <a:srgbClr val="1B1A24"/>
                </a:solidFill>
                <a:latin typeface="Roboto Mono" pitchFamily="34" charset="0"/>
                <a:ea typeface="Roboto Mono" pitchFamily="34" charset="-122"/>
                <a:cs typeface="Roboto Mono" pitchFamily="34" charset="-120"/>
              </a:rPr>
              <a:t>One chart, </a:t>
            </a:r>
            <a:pPr indent="0" marL="0">
              <a:buNone/>
            </a:pPr>
            <a:r>
              <a:rPr lang="en-US" sz="3200" b="1" dirty="0">
                <a:solidFill>
                  <a:srgbClr val="2E7A8C"/>
                </a:solidFill>
                <a:latin typeface="Roboto Mono" pitchFamily="34" charset="0"/>
                <a:ea typeface="Roboto Mono" pitchFamily="34" charset="-122"/>
                <a:cs typeface="Roboto Mono" pitchFamily="34" charset="-120"/>
              </a:rPr>
              <a:t>two environments</a:t>
            </a:r>
            <a:endParaRPr lang="en-US" sz="3200" dirty="0"/>
          </a:p>
        </p:txBody>
      </p:sp>
      <p:sp>
        <p:nvSpPr>
          <p:cNvPr id="4" name="Feature card"/>
          <p:cNvSpPr/>
          <p:nvPr/>
        </p:nvSpPr>
        <p:spPr>
          <a:xfrm>
            <a:off x="548640" y="1508760"/>
            <a:ext cx="3429000" cy="2057400"/>
          </a:xfrm>
          <a:prstGeom prst="roundRect">
            <a:avLst>
              <a:gd name="adj" fmla="val 7111"/>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sp>
        <p:nvSpPr>
          <p:cNvPr id="5" name="Icon disc"/>
          <p:cNvSpPr/>
          <p:nvPr/>
        </p:nvSpPr>
        <p:spPr>
          <a:xfrm>
            <a:off x="749808" y="1728216"/>
            <a:ext cx="512064" cy="512064"/>
          </a:xfrm>
          <a:prstGeom prst="ellipse">
            <a:avLst/>
          </a:prstGeom>
          <a:solidFill>
            <a:srgbClr val="FFBDC5"/>
          </a:solidFill>
          <a:ln w="12700">
            <a:solidFill>
              <a:srgbClr val="FFBDC5"/>
            </a:solidFill>
            <a:prstDash val="solid"/>
          </a:ln>
        </p:spPr>
      </p:sp>
      <p:pic>
        <p:nvPicPr>
          <p:cNvPr id="6" name="Image 0" descr="Helm chart">    </p:cNvPr>
          <p:cNvPicPr>
            <a:picLocks noChangeAspect="1"/>
          </p:cNvPicPr>
          <p:nvPr/>
        </p:nvPicPr>
        <p:blipFill>
          <a:blip r:embed="rId1"/>
          <a:stretch>
            <a:fillRect/>
          </a:stretch>
        </p:blipFill>
        <p:spPr>
          <a:xfrm>
            <a:off x="850392" y="1828800"/>
            <a:ext cx="310896" cy="310896"/>
          </a:xfrm>
          <a:prstGeom prst="rect">
            <a:avLst/>
          </a:prstGeom>
        </p:spPr>
      </p:pic>
      <p:sp>
        <p:nvSpPr>
          <p:cNvPr id="7" name="Text 4"/>
          <p:cNvSpPr txBox="1"/>
          <p:nvPr/>
        </p:nvSpPr>
        <p:spPr>
          <a:xfrm>
            <a:off x="1417320" y="1691640"/>
            <a:ext cx="2423160" cy="365760"/>
          </a:xfrm>
          <a:prstGeom prst="rect">
            <a:avLst/>
          </a:prstGeom>
          <a:noFill/>
          <a:ln/>
        </p:spPr>
        <p:txBody>
          <a:bodyPr wrap="square" lIns="0" tIns="0" rIns="0" bIns="0" rtlCol="0" anchor="ctr"/>
          <a:lstStyle/>
          <a:p>
            <a:pPr indent="0" marL="0">
              <a:buNone/>
            </a:pPr>
            <a:r>
              <a:rPr lang="en-US" sz="1500" b="1" dirty="0">
                <a:solidFill>
                  <a:srgbClr val="1B1A24"/>
                </a:solidFill>
              </a:rPr>
              <a:t>Helm chart</a:t>
            </a:r>
            <a:endParaRPr lang="en-US" sz="1500" dirty="0"/>
          </a:p>
        </p:txBody>
      </p:sp>
      <p:sp>
        <p:nvSpPr>
          <p:cNvPr id="8" name="Text 5"/>
          <p:cNvSpPr txBox="1"/>
          <p:nvPr/>
        </p:nvSpPr>
        <p:spPr>
          <a:xfrm>
            <a:off x="1417320" y="2039112"/>
            <a:ext cx="2423160" cy="1417320"/>
          </a:xfrm>
          <a:prstGeom prst="rect">
            <a:avLst/>
          </a:prstGeom>
          <a:noFill/>
          <a:ln/>
        </p:spPr>
        <p:txBody>
          <a:bodyPr wrap="square" lIns="0" tIns="0" rIns="0" bIns="0" rtlCol="0" anchor="t"/>
          <a:lstStyle/>
          <a:p>
            <a:pPr indent="0" marL="0">
              <a:buNone/>
            </a:pPr>
            <a:r>
              <a:rPr lang="en-US" sz="1200" dirty="0">
                <a:solidFill>
                  <a:srgbClr val="6B6475"/>
                </a:solidFill>
              </a:rPr>
              <a:t>Deployments, Services, Ingress, HPA, Postgres StatefulSet, ServiceMonitor and a Grafana dashboard.</a:t>
            </a:r>
            <a:endParaRPr lang="en-US" sz="1200" dirty="0"/>
          </a:p>
        </p:txBody>
      </p:sp>
      <p:sp>
        <p:nvSpPr>
          <p:cNvPr id="9" name="Feature card"/>
          <p:cNvSpPr/>
          <p:nvPr/>
        </p:nvSpPr>
        <p:spPr>
          <a:xfrm>
            <a:off x="4160520" y="1508760"/>
            <a:ext cx="3429000" cy="2057400"/>
          </a:xfrm>
          <a:prstGeom prst="roundRect">
            <a:avLst>
              <a:gd name="adj" fmla="val 7111"/>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sp>
        <p:nvSpPr>
          <p:cNvPr id="10" name="Icon disc"/>
          <p:cNvSpPr/>
          <p:nvPr/>
        </p:nvSpPr>
        <p:spPr>
          <a:xfrm>
            <a:off x="4361688" y="1728216"/>
            <a:ext cx="512064" cy="512064"/>
          </a:xfrm>
          <a:prstGeom prst="ellipse">
            <a:avLst/>
          </a:prstGeom>
          <a:solidFill>
            <a:srgbClr val="C69FD5"/>
          </a:solidFill>
          <a:ln w="12700">
            <a:solidFill>
              <a:srgbClr val="C69FD5"/>
            </a:solidFill>
            <a:prstDash val="solid"/>
          </a:ln>
        </p:spPr>
      </p:sp>
      <p:pic>
        <p:nvPicPr>
          <p:cNvPr id="11" name="Image 1" descr="Safe migrations">    </p:cNvPr>
          <p:cNvPicPr>
            <a:picLocks noChangeAspect="1"/>
          </p:cNvPicPr>
          <p:nvPr/>
        </p:nvPicPr>
        <p:blipFill>
          <a:blip r:embed="rId2"/>
          <a:stretch>
            <a:fillRect/>
          </a:stretch>
        </p:blipFill>
        <p:spPr>
          <a:xfrm>
            <a:off x="4462272" y="1828800"/>
            <a:ext cx="310896" cy="310896"/>
          </a:xfrm>
          <a:prstGeom prst="rect">
            <a:avLst/>
          </a:prstGeom>
        </p:spPr>
      </p:pic>
      <p:sp>
        <p:nvSpPr>
          <p:cNvPr id="12" name="Text 8"/>
          <p:cNvSpPr txBox="1"/>
          <p:nvPr/>
        </p:nvSpPr>
        <p:spPr>
          <a:xfrm>
            <a:off x="5029200" y="1691640"/>
            <a:ext cx="2423160" cy="365760"/>
          </a:xfrm>
          <a:prstGeom prst="rect">
            <a:avLst/>
          </a:prstGeom>
          <a:noFill/>
          <a:ln/>
        </p:spPr>
        <p:txBody>
          <a:bodyPr wrap="square" lIns="0" tIns="0" rIns="0" bIns="0" rtlCol="0" anchor="ctr"/>
          <a:lstStyle/>
          <a:p>
            <a:pPr indent="0" marL="0">
              <a:buNone/>
            </a:pPr>
            <a:r>
              <a:rPr lang="en-US" sz="1500" b="1" dirty="0">
                <a:solidFill>
                  <a:srgbClr val="1B1A24"/>
                </a:solidFill>
              </a:rPr>
              <a:t>Safe migrations</a:t>
            </a:r>
            <a:endParaRPr lang="en-US" sz="1500" dirty="0"/>
          </a:p>
        </p:txBody>
      </p:sp>
      <p:sp>
        <p:nvSpPr>
          <p:cNvPr id="13" name="Text 9"/>
          <p:cNvSpPr txBox="1"/>
          <p:nvPr/>
        </p:nvSpPr>
        <p:spPr>
          <a:xfrm>
            <a:off x="5029200" y="2039112"/>
            <a:ext cx="2423160" cy="1417320"/>
          </a:xfrm>
          <a:prstGeom prst="rect">
            <a:avLst/>
          </a:prstGeom>
          <a:noFill/>
          <a:ln/>
        </p:spPr>
        <p:txBody>
          <a:bodyPr wrap="square" lIns="0" tIns="0" rIns="0" bIns="0" rtlCol="0" anchor="t"/>
          <a:lstStyle/>
          <a:p>
            <a:pPr indent="0" marL="0">
              <a:buNone/>
            </a:pPr>
            <a:r>
              <a:rPr lang="en-US" sz="1200" dirty="0">
                <a:solidFill>
                  <a:srgbClr val="6B6475"/>
                </a:solidFill>
              </a:rPr>
              <a:t>An init container runs Alembic under a Postgres advisory lock, so replicas never race.</a:t>
            </a:r>
            <a:endParaRPr lang="en-US" sz="1200" dirty="0"/>
          </a:p>
        </p:txBody>
      </p:sp>
      <p:sp>
        <p:nvSpPr>
          <p:cNvPr id="14" name="Feature card"/>
          <p:cNvSpPr/>
          <p:nvPr/>
        </p:nvSpPr>
        <p:spPr>
          <a:xfrm>
            <a:off x="548640" y="3840480"/>
            <a:ext cx="3429000" cy="2057400"/>
          </a:xfrm>
          <a:prstGeom prst="roundRect">
            <a:avLst>
              <a:gd name="adj" fmla="val 7111"/>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sp>
        <p:nvSpPr>
          <p:cNvPr id="15" name="Icon disc"/>
          <p:cNvSpPr/>
          <p:nvPr/>
        </p:nvSpPr>
        <p:spPr>
          <a:xfrm>
            <a:off x="749808" y="4059936"/>
            <a:ext cx="512064" cy="512064"/>
          </a:xfrm>
          <a:prstGeom prst="ellipse">
            <a:avLst/>
          </a:prstGeom>
          <a:solidFill>
            <a:srgbClr val="4C9DB0"/>
          </a:solidFill>
          <a:ln w="12700">
            <a:solidFill>
              <a:srgbClr val="4C9DB0"/>
            </a:solidFill>
            <a:prstDash val="solid"/>
          </a:ln>
        </p:spPr>
      </p:sp>
      <p:pic>
        <p:nvPicPr>
          <p:cNvPr id="16" name="Image 2" descr="Locked down">    </p:cNvPr>
          <p:cNvPicPr>
            <a:picLocks noChangeAspect="1"/>
          </p:cNvPicPr>
          <p:nvPr/>
        </p:nvPicPr>
        <p:blipFill>
          <a:blip r:embed="rId3"/>
          <a:stretch>
            <a:fillRect/>
          </a:stretch>
        </p:blipFill>
        <p:spPr>
          <a:xfrm>
            <a:off x="850392" y="4160520"/>
            <a:ext cx="310896" cy="310896"/>
          </a:xfrm>
          <a:prstGeom prst="rect">
            <a:avLst/>
          </a:prstGeom>
        </p:spPr>
      </p:pic>
      <p:sp>
        <p:nvSpPr>
          <p:cNvPr id="17" name="Text 12"/>
          <p:cNvSpPr txBox="1"/>
          <p:nvPr/>
        </p:nvSpPr>
        <p:spPr>
          <a:xfrm>
            <a:off x="1417320" y="4023360"/>
            <a:ext cx="2423160" cy="365760"/>
          </a:xfrm>
          <a:prstGeom prst="rect">
            <a:avLst/>
          </a:prstGeom>
          <a:noFill/>
          <a:ln/>
        </p:spPr>
        <p:txBody>
          <a:bodyPr wrap="square" lIns="0" tIns="0" rIns="0" bIns="0" rtlCol="0" anchor="ctr"/>
          <a:lstStyle/>
          <a:p>
            <a:pPr indent="0" marL="0">
              <a:buNone/>
            </a:pPr>
            <a:r>
              <a:rPr lang="en-US" sz="1500" b="1" dirty="0">
                <a:solidFill>
                  <a:srgbClr val="1B1A24"/>
                </a:solidFill>
              </a:rPr>
              <a:t>Locked down</a:t>
            </a:r>
            <a:endParaRPr lang="en-US" sz="1500" dirty="0"/>
          </a:p>
        </p:txBody>
      </p:sp>
      <p:sp>
        <p:nvSpPr>
          <p:cNvPr id="18" name="Text 13"/>
          <p:cNvSpPr txBox="1"/>
          <p:nvPr/>
        </p:nvSpPr>
        <p:spPr>
          <a:xfrm>
            <a:off x="1417320" y="4370832"/>
            <a:ext cx="2423160" cy="1417320"/>
          </a:xfrm>
          <a:prstGeom prst="rect">
            <a:avLst/>
          </a:prstGeom>
          <a:noFill/>
          <a:ln/>
        </p:spPr>
        <p:txBody>
          <a:bodyPr wrap="square" lIns="0" tIns="0" rIns="0" bIns="0" rtlCol="0" anchor="t"/>
          <a:lstStyle/>
          <a:p>
            <a:pPr indent="0" marL="0">
              <a:buNone/>
            </a:pPr>
            <a:r>
              <a:rPr lang="en-US" sz="1200" dirty="0">
                <a:solidFill>
                  <a:srgbClr val="6B6475"/>
                </a:solidFill>
              </a:rPr>
              <a:t>Non-root pods, dropped capabilities, seccomp, secrets kept out of Git.</a:t>
            </a:r>
            <a:endParaRPr lang="en-US" sz="1200" dirty="0"/>
          </a:p>
        </p:txBody>
      </p:sp>
      <p:sp>
        <p:nvSpPr>
          <p:cNvPr id="19" name="Feature card"/>
          <p:cNvSpPr/>
          <p:nvPr/>
        </p:nvSpPr>
        <p:spPr>
          <a:xfrm>
            <a:off x="4160520" y="3840480"/>
            <a:ext cx="3429000" cy="2057400"/>
          </a:xfrm>
          <a:prstGeom prst="roundRect">
            <a:avLst>
              <a:gd name="adj" fmla="val 7111"/>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sp>
        <p:nvSpPr>
          <p:cNvPr id="20" name="Icon disc"/>
          <p:cNvSpPr/>
          <p:nvPr/>
        </p:nvSpPr>
        <p:spPr>
          <a:xfrm>
            <a:off x="4361688" y="4059936"/>
            <a:ext cx="512064" cy="512064"/>
          </a:xfrm>
          <a:prstGeom prst="ellipse">
            <a:avLst/>
          </a:prstGeom>
          <a:solidFill>
            <a:srgbClr val="F2C14E"/>
          </a:solidFill>
          <a:ln w="12700">
            <a:solidFill>
              <a:srgbClr val="F2C14E"/>
            </a:solidFill>
            <a:prstDash val="solid"/>
          </a:ln>
        </p:spPr>
      </p:sp>
      <p:pic>
        <p:nvPicPr>
          <p:cNvPr id="21" name="Image 3" descr="dev and staging">    </p:cNvPr>
          <p:cNvPicPr>
            <a:picLocks noChangeAspect="1"/>
          </p:cNvPicPr>
          <p:nvPr/>
        </p:nvPicPr>
        <p:blipFill>
          <a:blip r:embed="rId4"/>
          <a:stretch>
            <a:fillRect/>
          </a:stretch>
        </p:blipFill>
        <p:spPr>
          <a:xfrm>
            <a:off x="4462272" y="4160520"/>
            <a:ext cx="310896" cy="310896"/>
          </a:xfrm>
          <a:prstGeom prst="rect">
            <a:avLst/>
          </a:prstGeom>
        </p:spPr>
      </p:pic>
      <p:sp>
        <p:nvSpPr>
          <p:cNvPr id="22" name="Text 16"/>
          <p:cNvSpPr txBox="1"/>
          <p:nvPr/>
        </p:nvSpPr>
        <p:spPr>
          <a:xfrm>
            <a:off x="5029200" y="4023360"/>
            <a:ext cx="2423160" cy="365760"/>
          </a:xfrm>
          <a:prstGeom prst="rect">
            <a:avLst/>
          </a:prstGeom>
          <a:noFill/>
          <a:ln/>
        </p:spPr>
        <p:txBody>
          <a:bodyPr wrap="square" lIns="0" tIns="0" rIns="0" bIns="0" rtlCol="0" anchor="ctr"/>
          <a:lstStyle/>
          <a:p>
            <a:pPr indent="0" marL="0">
              <a:buNone/>
            </a:pPr>
            <a:r>
              <a:rPr lang="en-US" sz="1500" b="1" dirty="0">
                <a:solidFill>
                  <a:srgbClr val="1B1A24"/>
                </a:solidFill>
              </a:rPr>
              <a:t>dev and staging</a:t>
            </a:r>
            <a:endParaRPr lang="en-US" sz="1500" dirty="0"/>
          </a:p>
        </p:txBody>
      </p:sp>
      <p:sp>
        <p:nvSpPr>
          <p:cNvPr id="23" name="Text 17"/>
          <p:cNvSpPr txBox="1"/>
          <p:nvPr/>
        </p:nvSpPr>
        <p:spPr>
          <a:xfrm>
            <a:off x="5029200" y="4370832"/>
            <a:ext cx="2423160" cy="1417320"/>
          </a:xfrm>
          <a:prstGeom prst="rect">
            <a:avLst/>
          </a:prstGeom>
          <a:noFill/>
          <a:ln/>
        </p:spPr>
        <p:txBody>
          <a:bodyPr wrap="square" lIns="0" tIns="0" rIns="0" bIns="0" rtlCol="0" anchor="t"/>
          <a:lstStyle/>
          <a:p>
            <a:pPr indent="0" marL="0">
              <a:buNone/>
            </a:pPr>
            <a:r>
              <a:rPr lang="en-US" sz="1200" dirty="0">
                <a:solidFill>
                  <a:srgbClr val="6B6475"/>
                </a:solidFill>
              </a:rPr>
              <a:t>helm upgrade for dev; Argo CD syncs staging from GitHub with GHCR images.</a:t>
            </a:r>
            <a:endParaRPr lang="en-US" sz="1200" dirty="0"/>
          </a:p>
        </p:txBody>
      </p:sp>
      <p:sp>
        <p:nvSpPr>
          <p:cNvPr id="24" name="HPA card"/>
          <p:cNvSpPr/>
          <p:nvPr/>
        </p:nvSpPr>
        <p:spPr>
          <a:xfrm>
            <a:off x="8001000" y="1508760"/>
            <a:ext cx="3657600" cy="3840480"/>
          </a:xfrm>
          <a:prstGeom prst="roundRect">
            <a:avLst>
              <a:gd name="adj" fmla="val 5000"/>
            </a:avLst>
          </a:prstGeom>
          <a:solidFill>
            <a:srgbClr val="1F2A3C"/>
          </a:solidFill>
          <a:ln w="12700">
            <a:solidFill>
              <a:srgbClr val="1F2A3C"/>
            </a:solidFill>
            <a:prstDash val="solid"/>
          </a:ln>
          <a:effectLst>
            <a:outerShdw sx="100000" sy="100000" kx="0" ky="0" algn="bl" rotWithShape="0" blurRad="177800" dist="63500" dir="5400000">
              <a:srgbClr val="1B1A24">
                <a:alpha val="16000"/>
              </a:srgbClr>
            </a:outerShdw>
          </a:effectLst>
        </p:spPr>
      </p:sp>
      <p:sp>
        <p:nvSpPr>
          <p:cNvPr id="25" name="Text 19"/>
          <p:cNvSpPr txBox="1"/>
          <p:nvPr/>
        </p:nvSpPr>
        <p:spPr>
          <a:xfrm>
            <a:off x="8275320" y="1691640"/>
            <a:ext cx="3108960" cy="365760"/>
          </a:xfrm>
          <a:prstGeom prst="rect">
            <a:avLst/>
          </a:prstGeom>
          <a:noFill/>
          <a:ln/>
        </p:spPr>
        <p:txBody>
          <a:bodyPr wrap="square" lIns="0" tIns="0" rIns="0" bIns="0" rtlCol="0" anchor="ctr"/>
          <a:lstStyle/>
          <a:p>
            <a:pPr indent="0" marL="0">
              <a:buNone/>
            </a:pPr>
            <a:r>
              <a:rPr lang="en-US" sz="1300" b="1" spc="200" kern="0" dirty="0">
                <a:solidFill>
                  <a:srgbClr val="FFBDC5"/>
                </a:solidFill>
              </a:rPr>
              <a:t>Load test</a:t>
            </a:r>
            <a:endParaRPr lang="en-US" sz="1300" dirty="0"/>
          </a:p>
        </p:txBody>
      </p:sp>
      <p:sp>
        <p:nvSpPr>
          <p:cNvPr id="26" name="Text 20"/>
          <p:cNvSpPr txBox="1"/>
          <p:nvPr/>
        </p:nvSpPr>
        <p:spPr>
          <a:xfrm>
            <a:off x="8275320" y="2331720"/>
            <a:ext cx="3108960" cy="1188720"/>
          </a:xfrm>
          <a:prstGeom prst="rect">
            <a:avLst/>
          </a:prstGeom>
          <a:noFill/>
          <a:ln/>
        </p:spPr>
        <p:txBody>
          <a:bodyPr wrap="square" lIns="0" tIns="0" rIns="0" bIns="0" rtlCol="0" anchor="ctr"/>
          <a:lstStyle/>
          <a:p>
            <a:pPr indent="0" marL="0">
              <a:buNone/>
            </a:pPr>
            <a:r>
              <a:rPr lang="en-US" sz="5600" dirty="0">
                <a:solidFill>
                  <a:srgbClr val="FFFFFF"/>
                </a:solidFill>
                <a:latin typeface="Roboto Mono" pitchFamily="34" charset="0"/>
                <a:ea typeface="Roboto Mono" pitchFamily="34" charset="-122"/>
                <a:cs typeface="Roboto Mono" pitchFamily="34" charset="-120"/>
              </a:rPr>
              <a:t>2</a:t>
            </a:r>
            <a:pPr indent="0" marL="0">
              <a:buNone/>
            </a:pPr>
            <a:r>
              <a:rPr lang="en-US" sz="5600" dirty="0">
                <a:solidFill>
                  <a:srgbClr val="F2C14E"/>
                </a:solidFill>
                <a:latin typeface="Roboto Mono" pitchFamily="34" charset="0"/>
                <a:ea typeface="Roboto Mono" pitchFamily="34" charset="-122"/>
                <a:cs typeface="Roboto Mono" pitchFamily="34" charset="-120"/>
              </a:rPr>
              <a:t> → </a:t>
            </a:r>
            <a:pPr indent="0" marL="0">
              <a:buNone/>
            </a:pPr>
            <a:r>
              <a:rPr lang="en-US" sz="5600" dirty="0">
                <a:solidFill>
                  <a:srgbClr val="FFFFFF"/>
                </a:solidFill>
                <a:latin typeface="Roboto Mono" pitchFamily="34" charset="0"/>
                <a:ea typeface="Roboto Mono" pitchFamily="34" charset="-122"/>
                <a:cs typeface="Roboto Mono" pitchFamily="34" charset="-120"/>
              </a:rPr>
              <a:t>6</a:t>
            </a:r>
            <a:endParaRPr lang="en-US" sz="5600" dirty="0"/>
          </a:p>
        </p:txBody>
      </p:sp>
      <p:sp>
        <p:nvSpPr>
          <p:cNvPr id="27" name="Text 21"/>
          <p:cNvSpPr txBox="1"/>
          <p:nvPr/>
        </p:nvSpPr>
        <p:spPr>
          <a:xfrm>
            <a:off x="8275320" y="3749040"/>
            <a:ext cx="3108960" cy="822960"/>
          </a:xfrm>
          <a:prstGeom prst="rect">
            <a:avLst/>
          </a:prstGeom>
          <a:noFill/>
          <a:ln/>
        </p:spPr>
        <p:txBody>
          <a:bodyPr wrap="square" lIns="0" tIns="0" rIns="0" bIns="0" rtlCol="0" anchor="t"/>
          <a:lstStyle/>
          <a:p>
            <a:pPr indent="0" marL="0">
              <a:buNone/>
            </a:pPr>
            <a:r>
              <a:rPr lang="en-US" sz="1400" dirty="0">
                <a:solidFill>
                  <a:srgbClr val="AEB8C8"/>
                </a:solidFill>
              </a:rPr>
              <a:t>backend pods, scaled by the HPA when CPU hit 350% of target</a:t>
            </a:r>
            <a:endParaRPr lang="en-US" sz="1400" dirty="0"/>
          </a:p>
        </p:txBody>
      </p:sp>
      <p:sp>
        <p:nvSpPr>
          <p:cNvPr id="28" name="Text 22"/>
          <p:cNvSpPr txBox="1"/>
          <p:nvPr/>
        </p:nvSpPr>
        <p:spPr>
          <a:xfrm>
            <a:off x="8001000" y="5596128"/>
            <a:ext cx="1737360" cy="347472"/>
          </a:xfrm>
          <a:prstGeom prst="roundRect">
            <a:avLst>
              <a:gd name="adj" fmla="val 131579"/>
            </a:avLst>
          </a:prstGeom>
          <a:solidFill>
            <a:srgbClr val="FFF1F3"/>
          </a:solidFill>
          <a:ln>
            <a:solidFill>
              <a:srgbClr val="FFF1F3"/>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fellow.localhost</a:t>
            </a:r>
            <a:endParaRPr lang="en-US" sz="1200" dirty="0"/>
          </a:p>
        </p:txBody>
      </p:sp>
      <p:sp>
        <p:nvSpPr>
          <p:cNvPr id="29" name="Text 23"/>
          <p:cNvSpPr txBox="1"/>
          <p:nvPr/>
        </p:nvSpPr>
        <p:spPr>
          <a:xfrm>
            <a:off x="9829800" y="5596128"/>
            <a:ext cx="1828800" cy="347472"/>
          </a:xfrm>
          <a:prstGeom prst="roundRect">
            <a:avLst>
              <a:gd name="adj" fmla="val 131579"/>
            </a:avLst>
          </a:prstGeom>
          <a:solidFill>
            <a:srgbClr val="F1ECF6"/>
          </a:solidFill>
          <a:ln>
            <a:solidFill>
              <a:srgbClr val="F1ECF6"/>
            </a:solidFill>
          </a:ln>
        </p:spPr>
        <p:txBody>
          <a:bodyPr wrap="square" lIns="0" tIns="0" rIns="0" bIns="0" rtlCol="0" anchor="ctr"/>
          <a:lstStyle/>
          <a:p>
            <a:pPr algn="ctr" indent="0" marL="0">
              <a:buNone/>
            </a:pPr>
            <a:r>
              <a:rPr lang="en-US" sz="1100" b="1" dirty="0">
                <a:solidFill>
                  <a:srgbClr val="1B1A24"/>
                </a:solidFill>
                <a:latin typeface="Calibri" pitchFamily="34" charset="0"/>
                <a:ea typeface="Calibri" pitchFamily="34" charset="-122"/>
                <a:cs typeface="Calibri" pitchFamily="34" charset="-120"/>
              </a:rPr>
              <a:t>staging.fellow.localhost</a:t>
            </a:r>
            <a:endParaRPr lang="en-US" sz="1100" dirty="0"/>
          </a:p>
        </p:txBody>
      </p:sp>
      <p:sp>
        <p:nvSpPr>
          <p:cNvPr id="25" name="Slide Number Placeholder 0"/>
          <p:cNvSpPr>
            <a:spLocks noGrp="1"/>
          </p:cNvSpPr>
          <p:nvPr>
            <p:ph type="sldNum" sz="quarter" idx="4294967295"/>
          </p:nvPr>
        </p:nvSpPr>
        <p:spPr>
          <a:xfrm>
            <a:off x="112471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647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28600"/>
            <a:ext cx="5486400" cy="274320"/>
          </a:xfrm>
          <a:prstGeom prst="rect">
            <a:avLst/>
          </a:prstGeom>
          <a:noFill/>
          <a:ln/>
        </p:spPr>
        <p:txBody>
          <a:bodyPr wrap="square" lIns="0" tIns="0" rIns="0" bIns="0" rtlCol="0" anchor="ctr"/>
          <a:lstStyle/>
          <a:p>
            <a:pPr indent="0" marL="0">
              <a:buNone/>
            </a:pPr>
            <a:r>
              <a:rPr lang="en-US" sz="1100" b="1" spc="300" kern="0" dirty="0">
                <a:solidFill>
                  <a:srgbClr val="FFBDC5"/>
                </a:solidFill>
                <a:latin typeface="Calibri" pitchFamily="34" charset="0"/>
                <a:ea typeface="Calibri" pitchFamily="34" charset="-122"/>
                <a:cs typeface="Calibri" pitchFamily="34" charset="-120"/>
              </a:rPr>
              <a:t>OBSERVABILITY</a:t>
            </a:r>
            <a:endParaRPr lang="en-US" sz="1100" dirty="0"/>
          </a:p>
        </p:txBody>
      </p:sp>
      <p:sp>
        <p:nvSpPr>
          <p:cNvPr id="3" name="Title"/>
          <p:cNvSpPr txBox="1"/>
          <p:nvPr/>
        </p:nvSpPr>
        <p:spPr>
          <a:xfrm>
            <a:off x="548640" y="411480"/>
            <a:ext cx="10972800" cy="822960"/>
          </a:xfrm>
          <a:prstGeom prst="rect">
            <a:avLst/>
          </a:prstGeom>
          <a:noFill/>
          <a:ln/>
        </p:spPr>
        <p:txBody>
          <a:bodyPr wrap="square" lIns="0" tIns="0" rIns="0" bIns="0" rtlCol="0" anchor="ctr"/>
          <a:lstStyle/>
          <a:p>
            <a:pPr indent="0" marL="0">
              <a:buNone/>
            </a:pPr>
            <a:r>
              <a:rPr lang="en-US" sz="3200" b="1" dirty="0">
                <a:solidFill>
                  <a:srgbClr val="FFFFFF"/>
                </a:solidFill>
                <a:latin typeface="Roboto Mono" pitchFamily="34" charset="0"/>
                <a:ea typeface="Roboto Mono" pitchFamily="34" charset="-122"/>
                <a:cs typeface="Roboto Mono" pitchFamily="34" charset="-120"/>
              </a:rPr>
              <a:t>You can’t fix what you </a:t>
            </a:r>
            <a:pPr indent="0" marL="0">
              <a:buNone/>
            </a:pPr>
            <a:r>
              <a:rPr lang="en-US" sz="3200" b="1" dirty="0">
                <a:solidFill>
                  <a:srgbClr val="FFBDC5"/>
                </a:solidFill>
                <a:latin typeface="Roboto Mono" pitchFamily="34" charset="0"/>
                <a:ea typeface="Roboto Mono" pitchFamily="34" charset="-122"/>
                <a:cs typeface="Roboto Mono" pitchFamily="34" charset="-120"/>
              </a:rPr>
              <a:t>can’t see</a:t>
            </a:r>
            <a:endParaRPr lang="en-US" sz="3200" dirty="0"/>
          </a:p>
        </p:txBody>
      </p:sp>
      <p:sp>
        <p:nvSpPr>
          <p:cNvPr id="4" name="Sticker frame"/>
          <p:cNvSpPr/>
          <p:nvPr/>
        </p:nvSpPr>
        <p:spPr>
          <a:xfrm>
            <a:off x="548640" y="1417320"/>
            <a:ext cx="2834640" cy="2834640"/>
          </a:xfrm>
          <a:prstGeom prst="roundRect">
            <a:avLst>
              <a:gd name="adj" fmla="val 5806"/>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pic>
        <p:nvPicPr>
          <p:cNvPr id="5" name="Image 0" descr="Illustration">    </p:cNvPr>
          <p:cNvPicPr>
            <a:picLocks noChangeAspect="1"/>
          </p:cNvPicPr>
          <p:nvPr/>
        </p:nvPicPr>
        <p:blipFill>
          <a:blip r:embed="rId1"/>
          <a:stretch>
            <a:fillRect/>
          </a:stretch>
        </p:blipFill>
        <p:spPr>
          <a:xfrm>
            <a:off x="640080" y="1508760"/>
            <a:ext cx="2651760" cy="2651760"/>
          </a:xfrm>
          <a:prstGeom prst="rect">
            <a:avLst/>
          </a:prstGeom>
        </p:spPr>
      </p:pic>
      <p:sp>
        <p:nvSpPr>
          <p:cNvPr id="6" name="Text 3"/>
          <p:cNvSpPr txBox="1"/>
          <p:nvPr/>
        </p:nvSpPr>
        <p:spPr>
          <a:xfrm>
            <a:off x="548640" y="4480560"/>
            <a:ext cx="1554480" cy="457200"/>
          </a:xfrm>
          <a:prstGeom prst="rect">
            <a:avLst/>
          </a:prstGeom>
          <a:noFill/>
          <a:ln/>
        </p:spPr>
        <p:txBody>
          <a:bodyPr wrap="square" lIns="0" tIns="0" rIns="0" bIns="0" rtlCol="0" anchor="ctr"/>
          <a:lstStyle/>
          <a:p>
            <a:pPr indent="0" marL="0">
              <a:buNone/>
            </a:pPr>
            <a:r>
              <a:rPr lang="en-US" sz="2400" b="1" dirty="0">
                <a:solidFill>
                  <a:srgbClr val="4C9DB0"/>
                </a:solidFill>
                <a:latin typeface="Roboto Mono" pitchFamily="34" charset="0"/>
                <a:ea typeface="Roboto Mono" pitchFamily="34" charset="-122"/>
                <a:cs typeface="Roboto Mono" pitchFamily="34" charset="-120"/>
              </a:rPr>
              <a:t>13</a:t>
            </a:r>
            <a:endParaRPr lang="en-US" sz="2400" dirty="0"/>
          </a:p>
        </p:txBody>
      </p:sp>
      <p:sp>
        <p:nvSpPr>
          <p:cNvPr id="7" name="Text 4"/>
          <p:cNvSpPr txBox="1"/>
          <p:nvPr/>
        </p:nvSpPr>
        <p:spPr>
          <a:xfrm>
            <a:off x="548640" y="4937760"/>
            <a:ext cx="1554480" cy="274320"/>
          </a:xfrm>
          <a:prstGeom prst="rect">
            <a:avLst/>
          </a:prstGeom>
          <a:noFill/>
          <a:ln/>
        </p:spPr>
        <p:txBody>
          <a:bodyPr wrap="square" lIns="0" tIns="0" rIns="0" bIns="0" rtlCol="0" anchor="ctr"/>
          <a:lstStyle/>
          <a:p>
            <a:pPr indent="0" marL="0">
              <a:buNone/>
            </a:pPr>
            <a:r>
              <a:rPr lang="en-US" sz="1100" dirty="0">
                <a:solidFill>
                  <a:srgbClr val="AEB8C8"/>
                </a:solidFill>
              </a:rPr>
              <a:t>Grafana panels</a:t>
            </a:r>
            <a:endParaRPr lang="en-US" sz="1100" dirty="0"/>
          </a:p>
        </p:txBody>
      </p:sp>
      <p:sp>
        <p:nvSpPr>
          <p:cNvPr id="8" name="Text 5"/>
          <p:cNvSpPr txBox="1"/>
          <p:nvPr/>
        </p:nvSpPr>
        <p:spPr>
          <a:xfrm>
            <a:off x="2148840" y="4480560"/>
            <a:ext cx="1554480" cy="457200"/>
          </a:xfrm>
          <a:prstGeom prst="rect">
            <a:avLst/>
          </a:prstGeom>
          <a:noFill/>
          <a:ln/>
        </p:spPr>
        <p:txBody>
          <a:bodyPr wrap="square" lIns="0" tIns="0" rIns="0" bIns="0" rtlCol="0" anchor="ctr"/>
          <a:lstStyle/>
          <a:p>
            <a:pPr indent="0" marL="0">
              <a:buNone/>
            </a:pPr>
            <a:r>
              <a:rPr lang="en-US" sz="2400" b="1" dirty="0">
                <a:solidFill>
                  <a:srgbClr val="FFBDC5"/>
                </a:solidFill>
                <a:latin typeface="Roboto Mono" pitchFamily="34" charset="0"/>
                <a:ea typeface="Roboto Mono" pitchFamily="34" charset="-122"/>
                <a:cs typeface="Roboto Mono" pitchFamily="34" charset="-120"/>
              </a:rPr>
              <a:t>~40</a:t>
            </a:r>
            <a:endParaRPr lang="en-US" sz="2400" dirty="0"/>
          </a:p>
        </p:txBody>
      </p:sp>
      <p:sp>
        <p:nvSpPr>
          <p:cNvPr id="9" name="Text 6"/>
          <p:cNvSpPr txBox="1"/>
          <p:nvPr/>
        </p:nvSpPr>
        <p:spPr>
          <a:xfrm>
            <a:off x="2148840" y="4937760"/>
            <a:ext cx="1554480" cy="274320"/>
          </a:xfrm>
          <a:prstGeom prst="rect">
            <a:avLst/>
          </a:prstGeom>
          <a:noFill/>
          <a:ln/>
        </p:spPr>
        <p:txBody>
          <a:bodyPr wrap="square" lIns="0" tIns="0" rIns="0" bIns="0" rtlCol="0" anchor="ctr"/>
          <a:lstStyle/>
          <a:p>
            <a:pPr indent="0" marL="0">
              <a:buNone/>
            </a:pPr>
            <a:r>
              <a:rPr lang="en-US" sz="1100" dirty="0">
                <a:solidFill>
                  <a:srgbClr val="AEB8C8"/>
                </a:solidFill>
              </a:rPr>
              <a:t>req / sec under load</a:t>
            </a:r>
            <a:endParaRPr lang="en-US" sz="1100" dirty="0"/>
          </a:p>
        </p:txBody>
      </p:sp>
      <p:sp>
        <p:nvSpPr>
          <p:cNvPr id="10" name="Text 7"/>
          <p:cNvSpPr txBox="1"/>
          <p:nvPr/>
        </p:nvSpPr>
        <p:spPr>
          <a:xfrm>
            <a:off x="548640" y="5349240"/>
            <a:ext cx="1554480" cy="457200"/>
          </a:xfrm>
          <a:prstGeom prst="rect">
            <a:avLst/>
          </a:prstGeom>
          <a:noFill/>
          <a:ln/>
        </p:spPr>
        <p:txBody>
          <a:bodyPr wrap="square" lIns="0" tIns="0" rIns="0" bIns="0" rtlCol="0" anchor="ctr"/>
          <a:lstStyle/>
          <a:p>
            <a:pPr indent="0" marL="0">
              <a:buNone/>
            </a:pPr>
            <a:r>
              <a:rPr lang="en-US" sz="2400" b="1" dirty="0">
                <a:solidFill>
                  <a:srgbClr val="FFBDC5"/>
                </a:solidFill>
                <a:latin typeface="Roboto Mono" pitchFamily="34" charset="0"/>
                <a:ea typeface="Roboto Mono" pitchFamily="34" charset="-122"/>
                <a:cs typeface="Roboto Mono" pitchFamily="34" charset="-120"/>
              </a:rPr>
              <a:t>~10 ms</a:t>
            </a:r>
            <a:endParaRPr lang="en-US" sz="2400" dirty="0"/>
          </a:p>
        </p:txBody>
      </p:sp>
      <p:sp>
        <p:nvSpPr>
          <p:cNvPr id="11" name="Text 8"/>
          <p:cNvSpPr txBox="1"/>
          <p:nvPr/>
        </p:nvSpPr>
        <p:spPr>
          <a:xfrm>
            <a:off x="548640" y="5806440"/>
            <a:ext cx="1554480" cy="274320"/>
          </a:xfrm>
          <a:prstGeom prst="rect">
            <a:avLst/>
          </a:prstGeom>
          <a:noFill/>
          <a:ln/>
        </p:spPr>
        <p:txBody>
          <a:bodyPr wrap="square" lIns="0" tIns="0" rIns="0" bIns="0" rtlCol="0" anchor="ctr"/>
          <a:lstStyle/>
          <a:p>
            <a:pPr indent="0" marL="0">
              <a:buNone/>
            </a:pPr>
            <a:r>
              <a:rPr lang="en-US" sz="1100" dirty="0">
                <a:solidFill>
                  <a:srgbClr val="AEB8C8"/>
                </a:solidFill>
              </a:rPr>
              <a:t>p95 latency</a:t>
            </a:r>
            <a:endParaRPr lang="en-US" sz="1100" dirty="0"/>
          </a:p>
        </p:txBody>
      </p:sp>
      <p:sp>
        <p:nvSpPr>
          <p:cNvPr id="12" name="Text 9"/>
          <p:cNvSpPr txBox="1"/>
          <p:nvPr/>
        </p:nvSpPr>
        <p:spPr>
          <a:xfrm>
            <a:off x="2148840" y="5349240"/>
            <a:ext cx="1554480" cy="457200"/>
          </a:xfrm>
          <a:prstGeom prst="rect">
            <a:avLst/>
          </a:prstGeom>
          <a:noFill/>
          <a:ln/>
        </p:spPr>
        <p:txBody>
          <a:bodyPr wrap="square" lIns="0" tIns="0" rIns="0" bIns="0" rtlCol="0" anchor="ctr"/>
          <a:lstStyle/>
          <a:p>
            <a:pPr indent="0" marL="0">
              <a:buNone/>
            </a:pPr>
            <a:r>
              <a:rPr lang="en-US" sz="2400" b="1" dirty="0">
                <a:solidFill>
                  <a:srgbClr val="4C9DB0"/>
                </a:solidFill>
                <a:latin typeface="Roboto Mono" pitchFamily="34" charset="0"/>
                <a:ea typeface="Roboto Mono" pitchFamily="34" charset="-122"/>
                <a:cs typeface="Roboto Mono" pitchFamily="34" charset="-120"/>
              </a:rPr>
              <a:t>UP</a:t>
            </a:r>
            <a:endParaRPr lang="en-US" sz="2400" dirty="0"/>
          </a:p>
        </p:txBody>
      </p:sp>
      <p:sp>
        <p:nvSpPr>
          <p:cNvPr id="13" name="Text 10"/>
          <p:cNvSpPr txBox="1"/>
          <p:nvPr/>
        </p:nvSpPr>
        <p:spPr>
          <a:xfrm>
            <a:off x="2148840" y="5806440"/>
            <a:ext cx="1554480" cy="274320"/>
          </a:xfrm>
          <a:prstGeom prst="rect">
            <a:avLst/>
          </a:prstGeom>
          <a:noFill/>
          <a:ln/>
        </p:spPr>
        <p:txBody>
          <a:bodyPr wrap="square" lIns="0" tIns="0" rIns="0" bIns="0" rtlCol="0" anchor="ctr"/>
          <a:lstStyle/>
          <a:p>
            <a:pPr indent="0" marL="0">
              <a:buNone/>
            </a:pPr>
            <a:r>
              <a:rPr lang="en-US" sz="1100" dirty="0">
                <a:solidFill>
                  <a:srgbClr val="AEB8C8"/>
                </a:solidFill>
              </a:rPr>
              <a:t>all scrape targets</a:t>
            </a:r>
            <a:endParaRPr lang="en-US" sz="1100" dirty="0"/>
          </a:p>
        </p:txBody>
      </p:sp>
      <p:sp>
        <p:nvSpPr>
          <p:cNvPr id="14" name="Browser frame"/>
          <p:cNvSpPr/>
          <p:nvPr/>
        </p:nvSpPr>
        <p:spPr>
          <a:xfrm>
            <a:off x="4087368" y="1453896"/>
            <a:ext cx="7644384" cy="4626864"/>
          </a:xfrm>
          <a:prstGeom prst="roundRect">
            <a:avLst>
              <a:gd name="adj" fmla="val 2767"/>
            </a:avLst>
          </a:prstGeom>
          <a:solidFill>
            <a:srgbClr val="0F1622"/>
          </a:solidFill>
          <a:ln w="9525">
            <a:solidFill>
              <a:srgbClr val="0F1622"/>
            </a:solidFill>
            <a:prstDash val="solid"/>
          </a:ln>
          <a:effectLst>
            <a:outerShdw sx="100000" sy="100000" kx="0" ky="0" algn="bl" rotWithShape="0" blurRad="177800" dist="63500" dir="5400000">
              <a:srgbClr val="1B1A24">
                <a:alpha val="16000"/>
              </a:srgbClr>
            </a:outerShdw>
          </a:effectLst>
        </p:spPr>
      </p:sp>
      <p:sp>
        <p:nvSpPr>
          <p:cNvPr id="15" name="Window dot"/>
          <p:cNvSpPr/>
          <p:nvPr/>
        </p:nvSpPr>
        <p:spPr>
          <a:xfrm>
            <a:off x="4233672" y="1563624"/>
            <a:ext cx="109728" cy="109728"/>
          </a:xfrm>
          <a:prstGeom prst="ellipse">
            <a:avLst/>
          </a:prstGeom>
          <a:solidFill>
            <a:srgbClr val="FF5F57"/>
          </a:solidFill>
          <a:ln w="12700">
            <a:solidFill>
              <a:srgbClr val="FF5F57"/>
            </a:solidFill>
            <a:prstDash val="solid"/>
          </a:ln>
        </p:spPr>
      </p:sp>
      <p:sp>
        <p:nvSpPr>
          <p:cNvPr id="16" name="Window dot"/>
          <p:cNvSpPr/>
          <p:nvPr/>
        </p:nvSpPr>
        <p:spPr>
          <a:xfrm>
            <a:off x="4416552" y="1563624"/>
            <a:ext cx="109728" cy="109728"/>
          </a:xfrm>
          <a:prstGeom prst="ellipse">
            <a:avLst/>
          </a:prstGeom>
          <a:solidFill>
            <a:srgbClr val="FEBC2E"/>
          </a:solidFill>
          <a:ln w="12700">
            <a:solidFill>
              <a:srgbClr val="FEBC2E"/>
            </a:solidFill>
            <a:prstDash val="solid"/>
          </a:ln>
        </p:spPr>
      </p:sp>
      <p:sp>
        <p:nvSpPr>
          <p:cNvPr id="17" name="Window dot"/>
          <p:cNvSpPr/>
          <p:nvPr/>
        </p:nvSpPr>
        <p:spPr>
          <a:xfrm>
            <a:off x="4599432" y="1563624"/>
            <a:ext cx="109728" cy="109728"/>
          </a:xfrm>
          <a:prstGeom prst="ellipse">
            <a:avLst/>
          </a:prstGeom>
          <a:solidFill>
            <a:srgbClr val="28C840"/>
          </a:solidFill>
          <a:ln w="12700">
            <a:solidFill>
              <a:srgbClr val="28C840"/>
            </a:solidFill>
            <a:prstDash val="solid"/>
          </a:ln>
        </p:spPr>
      </p:sp>
      <p:pic>
        <p:nvPicPr>
          <p:cNvPr id="18" name="Image 1" descr="Screenshot of the running Fellow stack">    </p:cNvPr>
          <p:cNvPicPr>
            <a:picLocks noChangeAspect="1"/>
          </p:cNvPicPr>
          <p:nvPr/>
        </p:nvPicPr>
        <p:blipFill>
          <a:blip r:embed="rId2"/>
          <a:stretch>
            <a:fillRect/>
          </a:stretch>
        </p:blipFill>
        <p:spPr>
          <a:xfrm>
            <a:off x="4160520" y="1783080"/>
            <a:ext cx="7498080" cy="4224528"/>
          </a:xfrm>
          <a:prstGeom prst="rect">
            <a:avLst/>
          </a:prstGeom>
        </p:spPr>
      </p:pic>
      <p:sp>
        <p:nvSpPr>
          <p:cNvPr id="25" name="Slide Number Placeholder 0"/>
          <p:cNvSpPr>
            <a:spLocks noGrp="1"/>
          </p:cNvSpPr>
          <p:nvPr>
            <p:ph type="sldNum" sz="quarter" idx="4294967295"/>
          </p:nvPr>
        </p:nvSpPr>
        <p:spPr>
          <a:xfrm>
            <a:off x="112471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AEB8C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Confused duck">    </p:cNvPr>
          <p:cNvPicPr>
            <a:picLocks noChangeAspect="1"/>
          </p:cNvPicPr>
          <p:nvPr/>
        </p:nvPicPr>
        <p:blipFill>
          <a:blip r:embed="rId1"/>
          <a:stretch>
            <a:fillRect/>
          </a:stretch>
        </p:blipFill>
        <p:spPr>
          <a:xfrm>
            <a:off x="0" y="0"/>
            <a:ext cx="4892040" cy="6858000"/>
          </a:xfrm>
          <a:prstGeom prst="rect">
            <a:avLst/>
          </a:prstGeom>
        </p:spPr>
      </p:pic>
      <p:sp>
        <p:nvSpPr>
          <p:cNvPr id="3" name="Text 0"/>
          <p:cNvSpPr txBox="1"/>
          <p:nvPr/>
        </p:nvSpPr>
        <p:spPr>
          <a:xfrm>
            <a:off x="5394960" y="228600"/>
            <a:ext cx="5486400" cy="274320"/>
          </a:xfrm>
          <a:prstGeom prst="rect">
            <a:avLst/>
          </a:prstGeom>
          <a:noFill/>
          <a:ln/>
        </p:spPr>
        <p:txBody>
          <a:bodyPr wrap="square" lIns="0" tIns="0" rIns="0" bIns="0" rtlCol="0" anchor="ctr"/>
          <a:lstStyle/>
          <a:p>
            <a:pPr indent="0" marL="0">
              <a:buNone/>
            </a:pPr>
            <a:r>
              <a:rPr lang="en-US" sz="1100" b="1" spc="300" kern="0" dirty="0">
                <a:solidFill>
                  <a:srgbClr val="2E7A8C"/>
                </a:solidFill>
                <a:latin typeface="Calibri" pitchFamily="34" charset="0"/>
                <a:ea typeface="Calibri" pitchFamily="34" charset="-122"/>
                <a:cs typeface="Calibri" pitchFamily="34" charset="-120"/>
              </a:rPr>
              <a:t>DEVSECOPS AND TROUBLESHOOTING</a:t>
            </a:r>
            <a:endParaRPr lang="en-US" sz="1100" dirty="0"/>
          </a:p>
        </p:txBody>
      </p:sp>
      <p:sp>
        <p:nvSpPr>
          <p:cNvPr id="4" name="Title"/>
          <p:cNvSpPr txBox="1"/>
          <p:nvPr/>
        </p:nvSpPr>
        <p:spPr>
          <a:xfrm>
            <a:off x="5394960" y="411480"/>
            <a:ext cx="6309360" cy="822960"/>
          </a:xfrm>
          <a:prstGeom prst="rect">
            <a:avLst/>
          </a:prstGeom>
          <a:noFill/>
          <a:ln/>
        </p:spPr>
        <p:txBody>
          <a:bodyPr wrap="square" lIns="0" tIns="0" rIns="0" bIns="0" rtlCol="0" anchor="ctr"/>
          <a:lstStyle/>
          <a:p>
            <a:pPr indent="0" marL="0">
              <a:buNone/>
            </a:pPr>
            <a:r>
              <a:rPr lang="en-US" sz="3200" b="1" dirty="0">
                <a:solidFill>
                  <a:srgbClr val="1B1A24"/>
                </a:solidFill>
                <a:latin typeface="Roboto Mono" pitchFamily="34" charset="0"/>
                <a:ea typeface="Roboto Mono" pitchFamily="34" charset="-122"/>
                <a:cs typeface="Roboto Mono" pitchFamily="34" charset="-120"/>
              </a:rPr>
              <a:t>When things </a:t>
            </a:r>
            <a:pPr indent="0" marL="0">
              <a:buNone/>
            </a:pPr>
            <a:r>
              <a:rPr lang="en-US" sz="3200" b="1" dirty="0">
                <a:solidFill>
                  <a:srgbClr val="A13C4C"/>
                </a:solidFill>
                <a:latin typeface="Roboto Mono" pitchFamily="34" charset="0"/>
                <a:ea typeface="Roboto Mono" pitchFamily="34" charset="-122"/>
                <a:cs typeface="Roboto Mono" pitchFamily="34" charset="-120"/>
              </a:rPr>
              <a:t>broke</a:t>
            </a:r>
            <a:endParaRPr lang="en-US" sz="3200" dirty="0"/>
          </a:p>
        </p:txBody>
      </p:sp>
      <p:sp>
        <p:nvSpPr>
          <p:cNvPr id="5" name="Text 2"/>
          <p:cNvSpPr txBox="1"/>
          <p:nvPr/>
        </p:nvSpPr>
        <p:spPr>
          <a:xfrm>
            <a:off x="5394960" y="1746504"/>
            <a:ext cx="1188720" cy="347472"/>
          </a:xfrm>
          <a:prstGeom prst="roundRect">
            <a:avLst>
              <a:gd name="adj" fmla="val 131579"/>
            </a:avLst>
          </a:prstGeom>
          <a:solidFill>
            <a:srgbClr val="FFF1F3"/>
          </a:solidFill>
          <a:ln>
            <a:solidFill>
              <a:srgbClr val="FFF1F3"/>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Trivy</a:t>
            </a:r>
            <a:endParaRPr lang="en-US" sz="1200" dirty="0"/>
          </a:p>
        </p:txBody>
      </p:sp>
      <p:sp>
        <p:nvSpPr>
          <p:cNvPr id="6" name="Text 3"/>
          <p:cNvSpPr txBox="1"/>
          <p:nvPr/>
        </p:nvSpPr>
        <p:spPr>
          <a:xfrm>
            <a:off x="6766560" y="1554480"/>
            <a:ext cx="4892040" cy="731520"/>
          </a:xfrm>
          <a:prstGeom prst="rect">
            <a:avLst/>
          </a:prstGeom>
          <a:noFill/>
          <a:ln/>
        </p:spPr>
        <p:txBody>
          <a:bodyPr wrap="square" lIns="0" tIns="0" rIns="0" bIns="0" rtlCol="0" anchor="ctr"/>
          <a:lstStyle/>
          <a:p>
            <a:pPr indent="0" marL="0">
              <a:buNone/>
            </a:pPr>
            <a:r>
              <a:rPr lang="en-US" sz="1400" dirty="0">
                <a:solidFill>
                  <a:srgbClr val="1B1A24"/>
                </a:solidFill>
              </a:rPr>
              <a:t>3 HIGH CVEs in Starlette (CVE-2025-62727) and old Alpine libs. Upgraded, now 0 HIGH or CRITICAL.</a:t>
            </a:r>
            <a:endParaRPr lang="en-US" sz="1400" dirty="0"/>
          </a:p>
        </p:txBody>
      </p:sp>
      <p:sp>
        <p:nvSpPr>
          <p:cNvPr id="7" name="Text 4"/>
          <p:cNvSpPr txBox="1"/>
          <p:nvPr/>
        </p:nvSpPr>
        <p:spPr>
          <a:xfrm>
            <a:off x="5394960" y="2642616"/>
            <a:ext cx="1188720" cy="347472"/>
          </a:xfrm>
          <a:prstGeom prst="roundRect">
            <a:avLst>
              <a:gd name="adj" fmla="val 131579"/>
            </a:avLst>
          </a:prstGeom>
          <a:solidFill>
            <a:srgbClr val="F1ECF6"/>
          </a:solidFill>
          <a:ln>
            <a:solidFill>
              <a:srgbClr val="F1ECF6"/>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Review</a:t>
            </a:r>
            <a:endParaRPr lang="en-US" sz="1200" dirty="0"/>
          </a:p>
        </p:txBody>
      </p:sp>
      <p:sp>
        <p:nvSpPr>
          <p:cNvPr id="8" name="Text 5"/>
          <p:cNvSpPr txBox="1"/>
          <p:nvPr/>
        </p:nvSpPr>
        <p:spPr>
          <a:xfrm>
            <a:off x="6766560" y="2450592"/>
            <a:ext cx="4892040" cy="731520"/>
          </a:xfrm>
          <a:prstGeom prst="rect">
            <a:avLst/>
          </a:prstGeom>
          <a:noFill/>
          <a:ln/>
        </p:spPr>
        <p:txBody>
          <a:bodyPr wrap="square" lIns="0" tIns="0" rIns="0" bIns="0" rtlCol="0" anchor="ctr"/>
          <a:lstStyle/>
          <a:p>
            <a:pPr indent="0" marL="0">
              <a:buNone/>
            </a:pPr>
            <a:r>
              <a:rPr lang="en-US" sz="1400" dirty="0">
                <a:solidFill>
                  <a:srgbClr val="1B1A24"/>
                </a:solidFill>
              </a:rPr>
              <a:t>10 bugs found in a code review, each fixed with a regression test.</a:t>
            </a:r>
            <a:endParaRPr lang="en-US" sz="1400" dirty="0"/>
          </a:p>
        </p:txBody>
      </p:sp>
      <p:sp>
        <p:nvSpPr>
          <p:cNvPr id="9" name="Text 6"/>
          <p:cNvSpPr txBox="1"/>
          <p:nvPr/>
        </p:nvSpPr>
        <p:spPr>
          <a:xfrm>
            <a:off x="5394960" y="3538728"/>
            <a:ext cx="1188720" cy="347472"/>
          </a:xfrm>
          <a:prstGeom prst="roundRect">
            <a:avLst>
              <a:gd name="adj" fmla="val 131579"/>
            </a:avLst>
          </a:prstGeom>
          <a:solidFill>
            <a:srgbClr val="FFF1F3"/>
          </a:solidFill>
          <a:ln>
            <a:solidFill>
              <a:srgbClr val="FFF1F3"/>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Race</a:t>
            </a:r>
            <a:endParaRPr lang="en-US" sz="1200" dirty="0"/>
          </a:p>
        </p:txBody>
      </p:sp>
      <p:sp>
        <p:nvSpPr>
          <p:cNvPr id="10" name="Text 7"/>
          <p:cNvSpPr txBox="1"/>
          <p:nvPr/>
        </p:nvSpPr>
        <p:spPr>
          <a:xfrm>
            <a:off x="6766560" y="3346704"/>
            <a:ext cx="4892040" cy="731520"/>
          </a:xfrm>
          <a:prstGeom prst="rect">
            <a:avLst/>
          </a:prstGeom>
          <a:noFill/>
          <a:ln/>
        </p:spPr>
        <p:txBody>
          <a:bodyPr wrap="square" lIns="0" tIns="0" rIns="0" bIns="0" rtlCol="0" anchor="ctr"/>
          <a:lstStyle/>
          <a:p>
            <a:pPr indent="0" marL="0">
              <a:buNone/>
            </a:pPr>
            <a:r>
              <a:rPr lang="en-US" sz="1400" dirty="0">
                <a:solidFill>
                  <a:srgbClr val="1B1A24"/>
                </a:solidFill>
              </a:rPr>
              <a:t>Two replicas migrated at once. Fixed with a Postgres advisory lock.</a:t>
            </a:r>
            <a:endParaRPr lang="en-US" sz="1400" dirty="0"/>
          </a:p>
        </p:txBody>
      </p:sp>
      <p:sp>
        <p:nvSpPr>
          <p:cNvPr id="11" name="Text 8"/>
          <p:cNvSpPr txBox="1"/>
          <p:nvPr/>
        </p:nvSpPr>
        <p:spPr>
          <a:xfrm>
            <a:off x="5394960" y="4434840"/>
            <a:ext cx="1188720" cy="347472"/>
          </a:xfrm>
          <a:prstGeom prst="roundRect">
            <a:avLst>
              <a:gd name="adj" fmla="val 131579"/>
            </a:avLst>
          </a:prstGeom>
          <a:solidFill>
            <a:srgbClr val="F1ECF6"/>
          </a:solidFill>
          <a:ln>
            <a:solidFill>
              <a:srgbClr val="F1ECF6"/>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Ingress</a:t>
            </a:r>
            <a:endParaRPr lang="en-US" sz="1200" dirty="0"/>
          </a:p>
        </p:txBody>
      </p:sp>
      <p:sp>
        <p:nvSpPr>
          <p:cNvPr id="12" name="Text 9"/>
          <p:cNvSpPr txBox="1"/>
          <p:nvPr/>
        </p:nvSpPr>
        <p:spPr>
          <a:xfrm>
            <a:off x="6766560" y="4242816"/>
            <a:ext cx="4892040" cy="731520"/>
          </a:xfrm>
          <a:prstGeom prst="rect">
            <a:avLst/>
          </a:prstGeom>
          <a:noFill/>
          <a:ln/>
        </p:spPr>
        <p:txBody>
          <a:bodyPr wrap="square" lIns="0" tIns="0" rIns="0" bIns="0" rtlCol="0" anchor="ctr"/>
          <a:lstStyle/>
          <a:p>
            <a:pPr indent="0" marL="0">
              <a:buNone/>
            </a:pPr>
            <a:r>
              <a:rPr lang="en-US" sz="1400" dirty="0">
                <a:solidFill>
                  <a:srgbClr val="1B1A24"/>
                </a:solidFill>
              </a:rPr>
              <a:t>Controller landed on a node without port 80. Pinned to the control plane.</a:t>
            </a:r>
            <a:endParaRPr lang="en-US" sz="1400" dirty="0"/>
          </a:p>
        </p:txBody>
      </p:sp>
      <p:sp>
        <p:nvSpPr>
          <p:cNvPr id="13" name="Text 10"/>
          <p:cNvSpPr txBox="1"/>
          <p:nvPr/>
        </p:nvSpPr>
        <p:spPr>
          <a:xfrm>
            <a:off x="5394960" y="5330952"/>
            <a:ext cx="1188720" cy="347472"/>
          </a:xfrm>
          <a:prstGeom prst="roundRect">
            <a:avLst>
              <a:gd name="adj" fmla="val 131579"/>
            </a:avLst>
          </a:prstGeom>
          <a:solidFill>
            <a:srgbClr val="FFF1F3"/>
          </a:solidFill>
          <a:ln>
            <a:solidFill>
              <a:srgbClr val="FFF1F3"/>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Labs</a:t>
            </a:r>
            <a:endParaRPr lang="en-US" sz="1200" dirty="0"/>
          </a:p>
        </p:txBody>
      </p:sp>
      <p:sp>
        <p:nvSpPr>
          <p:cNvPr id="14" name="Text 11"/>
          <p:cNvSpPr txBox="1"/>
          <p:nvPr/>
        </p:nvSpPr>
        <p:spPr>
          <a:xfrm>
            <a:off x="6766560" y="5138928"/>
            <a:ext cx="4892040" cy="731520"/>
          </a:xfrm>
          <a:prstGeom prst="rect">
            <a:avLst/>
          </a:prstGeom>
          <a:noFill/>
          <a:ln/>
        </p:spPr>
        <p:txBody>
          <a:bodyPr wrap="square" lIns="0" tIns="0" rIns="0" bIns="0" rtlCol="0" anchor="ctr"/>
          <a:lstStyle/>
          <a:p>
            <a:pPr indent="0" marL="0">
              <a:buNone/>
            </a:pPr>
            <a:r>
              <a:rPr lang="en-US" sz="1400" dirty="0">
                <a:solidFill>
                  <a:srgbClr val="1B1A24"/>
                </a:solidFill>
              </a:rPr>
              <a:t>ImagePullBackOff and a Service with no endpoints, reproduced and fixed live.</a:t>
            </a:r>
            <a:endParaRPr lang="en-US" sz="1400" dirty="0"/>
          </a:p>
        </p:txBody>
      </p:sp>
      <p:sp>
        <p:nvSpPr>
          <p:cNvPr id="25" name="Slide Number Placeholder 0"/>
          <p:cNvSpPr>
            <a:spLocks noGrp="1"/>
          </p:cNvSpPr>
          <p:nvPr>
            <p:ph type="sldNum" sz="quarter" idx="4294967295"/>
          </p:nvPr>
        </p:nvSpPr>
        <p:spPr>
          <a:xfrm>
            <a:off x="112471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647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28600"/>
            <a:ext cx="5486400" cy="274320"/>
          </a:xfrm>
          <a:prstGeom prst="rect">
            <a:avLst/>
          </a:prstGeom>
          <a:noFill/>
          <a:ln/>
        </p:spPr>
        <p:txBody>
          <a:bodyPr wrap="square" lIns="0" tIns="0" rIns="0" bIns="0" rtlCol="0" anchor="ctr"/>
          <a:lstStyle/>
          <a:p>
            <a:pPr indent="0" marL="0">
              <a:buNone/>
            </a:pPr>
            <a:r>
              <a:rPr lang="en-US" sz="1100" b="1" spc="300" kern="0" dirty="0">
                <a:solidFill>
                  <a:srgbClr val="2E7A8C"/>
                </a:solidFill>
                <a:latin typeface="Calibri" pitchFamily="34" charset="0"/>
                <a:ea typeface="Calibri" pitchFamily="34" charset="-122"/>
                <a:cs typeface="Calibri" pitchFamily="34" charset="-120"/>
              </a:rPr>
              <a:t>KEY LEARNINGS</a:t>
            </a:r>
            <a:endParaRPr lang="en-US" sz="1100" dirty="0"/>
          </a:p>
        </p:txBody>
      </p:sp>
      <p:sp>
        <p:nvSpPr>
          <p:cNvPr id="3" name="Title"/>
          <p:cNvSpPr txBox="1"/>
          <p:nvPr/>
        </p:nvSpPr>
        <p:spPr>
          <a:xfrm>
            <a:off x="548640" y="411480"/>
            <a:ext cx="7772400" cy="822960"/>
          </a:xfrm>
          <a:prstGeom prst="rect">
            <a:avLst/>
          </a:prstGeom>
          <a:noFill/>
          <a:ln/>
        </p:spPr>
        <p:txBody>
          <a:bodyPr wrap="square" lIns="0" tIns="0" rIns="0" bIns="0" rtlCol="0" anchor="ctr"/>
          <a:lstStyle/>
          <a:p>
            <a:pPr indent="0" marL="0">
              <a:buNone/>
            </a:pPr>
            <a:r>
              <a:rPr lang="en-US" sz="3200" b="1" dirty="0">
                <a:solidFill>
                  <a:srgbClr val="1B1A24"/>
                </a:solidFill>
                <a:latin typeface="Roboto Mono" pitchFamily="34" charset="0"/>
                <a:ea typeface="Roboto Mono" pitchFamily="34" charset="-122"/>
                <a:cs typeface="Roboto Mono" pitchFamily="34" charset="-120"/>
              </a:rPr>
              <a:t>What I’d tell </a:t>
            </a:r>
            <a:pPr indent="0" marL="0">
              <a:buNone/>
            </a:pPr>
            <a:r>
              <a:rPr lang="en-US" sz="3200" b="1" dirty="0">
                <a:solidFill>
                  <a:srgbClr val="2E7A8C"/>
                </a:solidFill>
                <a:latin typeface="Roboto Mono" pitchFamily="34" charset="0"/>
                <a:ea typeface="Roboto Mono" pitchFamily="34" charset="-122"/>
                <a:cs typeface="Roboto Mono" pitchFamily="34" charset="-120"/>
              </a:rPr>
              <a:t>past me</a:t>
            </a:r>
            <a:endParaRPr lang="en-US" sz="3200" dirty="0"/>
          </a:p>
        </p:txBody>
      </p:sp>
      <p:sp>
        <p:nvSpPr>
          <p:cNvPr id="4" name="Feature card"/>
          <p:cNvSpPr/>
          <p:nvPr/>
        </p:nvSpPr>
        <p:spPr>
          <a:xfrm>
            <a:off x="548640" y="1600200"/>
            <a:ext cx="3520440" cy="1600200"/>
          </a:xfrm>
          <a:prstGeom prst="roundRect">
            <a:avLst>
              <a:gd name="adj" fmla="val 9143"/>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sp>
        <p:nvSpPr>
          <p:cNvPr id="5" name="Icon disc"/>
          <p:cNvSpPr/>
          <p:nvPr/>
        </p:nvSpPr>
        <p:spPr>
          <a:xfrm>
            <a:off x="749808" y="1819656"/>
            <a:ext cx="512064" cy="512064"/>
          </a:xfrm>
          <a:prstGeom prst="ellipse">
            <a:avLst/>
          </a:prstGeom>
          <a:solidFill>
            <a:srgbClr val="F2C14E"/>
          </a:solidFill>
          <a:ln w="12700">
            <a:solidFill>
              <a:srgbClr val="F2C14E"/>
            </a:solidFill>
            <a:prstDash val="solid"/>
          </a:ln>
        </p:spPr>
      </p:sp>
      <p:pic>
        <p:nvPicPr>
          <p:cNvPr id="6" name="Image 0" descr="Gate early">    </p:cNvPr>
          <p:cNvPicPr>
            <a:picLocks noChangeAspect="1"/>
          </p:cNvPicPr>
          <p:nvPr/>
        </p:nvPicPr>
        <p:blipFill>
          <a:blip r:embed="rId1"/>
          <a:stretch>
            <a:fillRect/>
          </a:stretch>
        </p:blipFill>
        <p:spPr>
          <a:xfrm>
            <a:off x="850392" y="1920240"/>
            <a:ext cx="310896" cy="310896"/>
          </a:xfrm>
          <a:prstGeom prst="rect">
            <a:avLst/>
          </a:prstGeom>
        </p:spPr>
      </p:pic>
      <p:sp>
        <p:nvSpPr>
          <p:cNvPr id="7" name="Text 4"/>
          <p:cNvSpPr txBox="1"/>
          <p:nvPr/>
        </p:nvSpPr>
        <p:spPr>
          <a:xfrm>
            <a:off x="1417320" y="1783080"/>
            <a:ext cx="2514600" cy="365760"/>
          </a:xfrm>
          <a:prstGeom prst="rect">
            <a:avLst/>
          </a:prstGeom>
          <a:noFill/>
          <a:ln/>
        </p:spPr>
        <p:txBody>
          <a:bodyPr wrap="square" lIns="0" tIns="0" rIns="0" bIns="0" rtlCol="0" anchor="ctr"/>
          <a:lstStyle/>
          <a:p>
            <a:pPr indent="0" marL="0">
              <a:buNone/>
            </a:pPr>
            <a:r>
              <a:rPr lang="en-US" sz="1500" b="1" dirty="0">
                <a:solidFill>
                  <a:srgbClr val="1B1A24"/>
                </a:solidFill>
              </a:rPr>
              <a:t>Gate early</a:t>
            </a:r>
            <a:endParaRPr lang="en-US" sz="1500" dirty="0"/>
          </a:p>
        </p:txBody>
      </p:sp>
      <p:sp>
        <p:nvSpPr>
          <p:cNvPr id="8" name="Text 5"/>
          <p:cNvSpPr txBox="1"/>
          <p:nvPr/>
        </p:nvSpPr>
        <p:spPr>
          <a:xfrm>
            <a:off x="1417320" y="2130552"/>
            <a:ext cx="2514600" cy="960120"/>
          </a:xfrm>
          <a:prstGeom prst="rect">
            <a:avLst/>
          </a:prstGeom>
          <a:noFill/>
          <a:ln/>
        </p:spPr>
        <p:txBody>
          <a:bodyPr wrap="square" lIns="0" tIns="0" rIns="0" bIns="0" rtlCol="0" anchor="t"/>
          <a:lstStyle/>
          <a:p>
            <a:pPr indent="0" marL="0">
              <a:buNone/>
            </a:pPr>
            <a:r>
              <a:rPr lang="en-US" sz="1200" dirty="0">
                <a:solidFill>
                  <a:srgbClr val="6B6475"/>
                </a:solidFill>
              </a:rPr>
              <a:t>Tests and scans before images means nothing broken ever reaches the registry.</a:t>
            </a:r>
            <a:endParaRPr lang="en-US" sz="1200" dirty="0"/>
          </a:p>
        </p:txBody>
      </p:sp>
      <p:sp>
        <p:nvSpPr>
          <p:cNvPr id="9" name="Feature card"/>
          <p:cNvSpPr/>
          <p:nvPr/>
        </p:nvSpPr>
        <p:spPr>
          <a:xfrm>
            <a:off x="548640" y="3657600"/>
            <a:ext cx="3520440" cy="1600200"/>
          </a:xfrm>
          <a:prstGeom prst="roundRect">
            <a:avLst>
              <a:gd name="adj" fmla="val 9143"/>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sp>
        <p:nvSpPr>
          <p:cNvPr id="10" name="Icon disc"/>
          <p:cNvSpPr/>
          <p:nvPr/>
        </p:nvSpPr>
        <p:spPr>
          <a:xfrm>
            <a:off x="749808" y="3877056"/>
            <a:ext cx="512064" cy="512064"/>
          </a:xfrm>
          <a:prstGeom prst="ellipse">
            <a:avLst/>
          </a:prstGeom>
          <a:solidFill>
            <a:srgbClr val="4C9DB0"/>
          </a:solidFill>
          <a:ln w="12700">
            <a:solidFill>
              <a:srgbClr val="4C9DB0"/>
            </a:solidFill>
            <a:prstDash val="solid"/>
          </a:ln>
        </p:spPr>
      </p:sp>
      <p:pic>
        <p:nvPicPr>
          <p:cNvPr id="11" name="Image 1" descr="GitOps is calm">    </p:cNvPr>
          <p:cNvPicPr>
            <a:picLocks noChangeAspect="1"/>
          </p:cNvPicPr>
          <p:nvPr/>
        </p:nvPicPr>
        <p:blipFill>
          <a:blip r:embed="rId2"/>
          <a:stretch>
            <a:fillRect/>
          </a:stretch>
        </p:blipFill>
        <p:spPr>
          <a:xfrm>
            <a:off x="850392" y="3977640"/>
            <a:ext cx="310896" cy="310896"/>
          </a:xfrm>
          <a:prstGeom prst="rect">
            <a:avLst/>
          </a:prstGeom>
        </p:spPr>
      </p:pic>
      <p:sp>
        <p:nvSpPr>
          <p:cNvPr id="12" name="Text 8"/>
          <p:cNvSpPr txBox="1"/>
          <p:nvPr/>
        </p:nvSpPr>
        <p:spPr>
          <a:xfrm>
            <a:off x="1417320" y="3840480"/>
            <a:ext cx="2514600" cy="365760"/>
          </a:xfrm>
          <a:prstGeom prst="rect">
            <a:avLst/>
          </a:prstGeom>
          <a:noFill/>
          <a:ln/>
        </p:spPr>
        <p:txBody>
          <a:bodyPr wrap="square" lIns="0" tIns="0" rIns="0" bIns="0" rtlCol="0" anchor="ctr"/>
          <a:lstStyle/>
          <a:p>
            <a:pPr indent="0" marL="0">
              <a:buNone/>
            </a:pPr>
            <a:r>
              <a:rPr lang="en-US" sz="1500" b="1" dirty="0">
                <a:solidFill>
                  <a:srgbClr val="1B1A24"/>
                </a:solidFill>
              </a:rPr>
              <a:t>GitOps is calm</a:t>
            </a:r>
            <a:endParaRPr lang="en-US" sz="1500" dirty="0"/>
          </a:p>
        </p:txBody>
      </p:sp>
      <p:sp>
        <p:nvSpPr>
          <p:cNvPr id="13" name="Text 9"/>
          <p:cNvSpPr txBox="1"/>
          <p:nvPr/>
        </p:nvSpPr>
        <p:spPr>
          <a:xfrm>
            <a:off x="1417320" y="4187952"/>
            <a:ext cx="2514600" cy="960120"/>
          </a:xfrm>
          <a:prstGeom prst="rect">
            <a:avLst/>
          </a:prstGeom>
          <a:noFill/>
          <a:ln/>
        </p:spPr>
        <p:txBody>
          <a:bodyPr wrap="square" lIns="0" tIns="0" rIns="0" bIns="0" rtlCol="0" anchor="t"/>
          <a:lstStyle/>
          <a:p>
            <a:pPr indent="0" marL="0">
              <a:buNone/>
            </a:pPr>
            <a:r>
              <a:rPr lang="en-US" sz="1200" dirty="0">
                <a:solidFill>
                  <a:srgbClr val="6B6475"/>
                </a:solidFill>
              </a:rPr>
              <a:t>Git is the source of truth, so a deploy is just a reviewed commit.</a:t>
            </a:r>
            <a:endParaRPr lang="en-US" sz="1200" dirty="0"/>
          </a:p>
        </p:txBody>
      </p:sp>
      <p:sp>
        <p:nvSpPr>
          <p:cNvPr id="14" name="Feature card"/>
          <p:cNvSpPr/>
          <p:nvPr/>
        </p:nvSpPr>
        <p:spPr>
          <a:xfrm>
            <a:off x="8119872" y="1600200"/>
            <a:ext cx="3520440" cy="1600200"/>
          </a:xfrm>
          <a:prstGeom prst="roundRect">
            <a:avLst>
              <a:gd name="adj" fmla="val 9143"/>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sp>
        <p:nvSpPr>
          <p:cNvPr id="15" name="Icon disc"/>
          <p:cNvSpPr/>
          <p:nvPr/>
        </p:nvSpPr>
        <p:spPr>
          <a:xfrm>
            <a:off x="8321040" y="1819656"/>
            <a:ext cx="512064" cy="512064"/>
          </a:xfrm>
          <a:prstGeom prst="ellipse">
            <a:avLst/>
          </a:prstGeom>
          <a:solidFill>
            <a:srgbClr val="FFBDC5"/>
          </a:solidFill>
          <a:ln w="12700">
            <a:solidFill>
              <a:srgbClr val="FFBDC5"/>
            </a:solidFill>
            <a:prstDash val="solid"/>
          </a:ln>
        </p:spPr>
      </p:sp>
      <p:pic>
        <p:nvPicPr>
          <p:cNvPr id="16" name="Image 2" descr="Measure first">    </p:cNvPr>
          <p:cNvPicPr>
            <a:picLocks noChangeAspect="1"/>
          </p:cNvPicPr>
          <p:nvPr/>
        </p:nvPicPr>
        <p:blipFill>
          <a:blip r:embed="rId3"/>
          <a:stretch>
            <a:fillRect/>
          </a:stretch>
        </p:blipFill>
        <p:spPr>
          <a:xfrm>
            <a:off x="8421624" y="1920240"/>
            <a:ext cx="310896" cy="310896"/>
          </a:xfrm>
          <a:prstGeom prst="rect">
            <a:avLst/>
          </a:prstGeom>
        </p:spPr>
      </p:pic>
      <p:sp>
        <p:nvSpPr>
          <p:cNvPr id="17" name="Text 12"/>
          <p:cNvSpPr txBox="1"/>
          <p:nvPr/>
        </p:nvSpPr>
        <p:spPr>
          <a:xfrm>
            <a:off x="8988552" y="1783080"/>
            <a:ext cx="2514600" cy="365760"/>
          </a:xfrm>
          <a:prstGeom prst="rect">
            <a:avLst/>
          </a:prstGeom>
          <a:noFill/>
          <a:ln/>
        </p:spPr>
        <p:txBody>
          <a:bodyPr wrap="square" lIns="0" tIns="0" rIns="0" bIns="0" rtlCol="0" anchor="ctr"/>
          <a:lstStyle/>
          <a:p>
            <a:pPr indent="0" marL="0">
              <a:buNone/>
            </a:pPr>
            <a:r>
              <a:rPr lang="en-US" sz="1500" b="1" dirty="0">
                <a:solidFill>
                  <a:srgbClr val="1B1A24"/>
                </a:solidFill>
              </a:rPr>
              <a:t>Measure first</a:t>
            </a:r>
            <a:endParaRPr lang="en-US" sz="1500" dirty="0"/>
          </a:p>
        </p:txBody>
      </p:sp>
      <p:sp>
        <p:nvSpPr>
          <p:cNvPr id="18" name="Text 13"/>
          <p:cNvSpPr txBox="1"/>
          <p:nvPr/>
        </p:nvSpPr>
        <p:spPr>
          <a:xfrm>
            <a:off x="8988552" y="2130552"/>
            <a:ext cx="2514600" cy="960120"/>
          </a:xfrm>
          <a:prstGeom prst="rect">
            <a:avLst/>
          </a:prstGeom>
          <a:noFill/>
          <a:ln/>
        </p:spPr>
        <p:txBody>
          <a:bodyPr wrap="square" lIns="0" tIns="0" rIns="0" bIns="0" rtlCol="0" anchor="t"/>
          <a:lstStyle/>
          <a:p>
            <a:pPr indent="0" marL="0">
              <a:buNone/>
            </a:pPr>
            <a:r>
              <a:rPr lang="en-US" sz="1200" dirty="0">
                <a:solidFill>
                  <a:srgbClr val="6B6475"/>
                </a:solidFill>
              </a:rPr>
              <a:t>Metrics showed the HPA working long before I guessed at limits.</a:t>
            </a:r>
            <a:endParaRPr lang="en-US" sz="1200" dirty="0"/>
          </a:p>
        </p:txBody>
      </p:sp>
      <p:sp>
        <p:nvSpPr>
          <p:cNvPr id="19" name="Feature card"/>
          <p:cNvSpPr/>
          <p:nvPr/>
        </p:nvSpPr>
        <p:spPr>
          <a:xfrm>
            <a:off x="8119872" y="3657600"/>
            <a:ext cx="3520440" cy="1600200"/>
          </a:xfrm>
          <a:prstGeom prst="roundRect">
            <a:avLst>
              <a:gd name="adj" fmla="val 9143"/>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sp>
        <p:nvSpPr>
          <p:cNvPr id="20" name="Icon disc"/>
          <p:cNvSpPr/>
          <p:nvPr/>
        </p:nvSpPr>
        <p:spPr>
          <a:xfrm>
            <a:off x="8321040" y="3877056"/>
            <a:ext cx="512064" cy="512064"/>
          </a:xfrm>
          <a:prstGeom prst="ellipse">
            <a:avLst/>
          </a:prstGeom>
          <a:solidFill>
            <a:srgbClr val="C69FD5"/>
          </a:solidFill>
          <a:ln w="12700">
            <a:solidFill>
              <a:srgbClr val="C69FD5"/>
            </a:solidFill>
            <a:prstDash val="solid"/>
          </a:ln>
        </p:spPr>
      </p:sp>
      <p:pic>
        <p:nvPicPr>
          <p:cNvPr id="21" name="Image 3" descr="Security is a step">    </p:cNvPr>
          <p:cNvPicPr>
            <a:picLocks noChangeAspect="1"/>
          </p:cNvPicPr>
          <p:nvPr/>
        </p:nvPicPr>
        <p:blipFill>
          <a:blip r:embed="rId4"/>
          <a:stretch>
            <a:fillRect/>
          </a:stretch>
        </p:blipFill>
        <p:spPr>
          <a:xfrm>
            <a:off x="8421624" y="3977640"/>
            <a:ext cx="310896" cy="310896"/>
          </a:xfrm>
          <a:prstGeom prst="rect">
            <a:avLst/>
          </a:prstGeom>
        </p:spPr>
      </p:pic>
      <p:sp>
        <p:nvSpPr>
          <p:cNvPr id="22" name="Text 16"/>
          <p:cNvSpPr txBox="1"/>
          <p:nvPr/>
        </p:nvSpPr>
        <p:spPr>
          <a:xfrm>
            <a:off x="8988552" y="3840480"/>
            <a:ext cx="2514600" cy="365760"/>
          </a:xfrm>
          <a:prstGeom prst="rect">
            <a:avLst/>
          </a:prstGeom>
          <a:noFill/>
          <a:ln/>
        </p:spPr>
        <p:txBody>
          <a:bodyPr wrap="square" lIns="0" tIns="0" rIns="0" bIns="0" rtlCol="0" anchor="ctr"/>
          <a:lstStyle/>
          <a:p>
            <a:pPr indent="0" marL="0">
              <a:buNone/>
            </a:pPr>
            <a:r>
              <a:rPr lang="en-US" sz="1500" b="1" dirty="0">
                <a:solidFill>
                  <a:srgbClr val="1B1A24"/>
                </a:solidFill>
              </a:rPr>
              <a:t>Security is a step</a:t>
            </a:r>
            <a:endParaRPr lang="en-US" sz="1500" dirty="0"/>
          </a:p>
        </p:txBody>
      </p:sp>
      <p:sp>
        <p:nvSpPr>
          <p:cNvPr id="23" name="Text 17"/>
          <p:cNvSpPr txBox="1"/>
          <p:nvPr/>
        </p:nvSpPr>
        <p:spPr>
          <a:xfrm>
            <a:off x="8988552" y="4187952"/>
            <a:ext cx="2514600" cy="960120"/>
          </a:xfrm>
          <a:prstGeom prst="rect">
            <a:avLst/>
          </a:prstGeom>
          <a:noFill/>
          <a:ln/>
        </p:spPr>
        <p:txBody>
          <a:bodyPr wrap="square" lIns="0" tIns="0" rIns="0" bIns="0" rtlCol="0" anchor="t"/>
          <a:lstStyle/>
          <a:p>
            <a:pPr indent="0" marL="0">
              <a:buNone/>
            </a:pPr>
            <a:r>
              <a:rPr lang="en-US" sz="1200" dirty="0">
                <a:solidFill>
                  <a:srgbClr val="6B6475"/>
                </a:solidFill>
              </a:rPr>
              <a:t>Non-root images, scanned deps and no secrets in Git, every build.</a:t>
            </a:r>
            <a:endParaRPr lang="en-US" sz="1200" dirty="0"/>
          </a:p>
        </p:txBody>
      </p:sp>
      <p:sp>
        <p:nvSpPr>
          <p:cNvPr id="24" name="Sticker frame"/>
          <p:cNvSpPr/>
          <p:nvPr/>
        </p:nvSpPr>
        <p:spPr>
          <a:xfrm>
            <a:off x="4526280" y="1737360"/>
            <a:ext cx="3154680" cy="3154680"/>
          </a:xfrm>
          <a:prstGeom prst="roundRect">
            <a:avLst>
              <a:gd name="adj" fmla="val 5217"/>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pic>
        <p:nvPicPr>
          <p:cNvPr id="25" name="Image 4" descr="Illustration">    </p:cNvPr>
          <p:cNvPicPr>
            <a:picLocks noChangeAspect="1"/>
          </p:cNvPicPr>
          <p:nvPr/>
        </p:nvPicPr>
        <p:blipFill>
          <a:blip r:embed="rId5"/>
          <a:stretch>
            <a:fillRect/>
          </a:stretch>
        </p:blipFill>
        <p:spPr>
          <a:xfrm>
            <a:off x="4636008" y="1847088"/>
            <a:ext cx="2935224" cy="2935224"/>
          </a:xfrm>
          <a:prstGeom prst="rect">
            <a:avLst/>
          </a:prstGeom>
        </p:spPr>
      </p:pic>
      <p:sp>
        <p:nvSpPr>
          <p:cNvPr id="26" name="Text 19"/>
          <p:cNvSpPr txBox="1"/>
          <p:nvPr/>
        </p:nvSpPr>
        <p:spPr>
          <a:xfrm>
            <a:off x="4526280" y="5120640"/>
            <a:ext cx="3154680" cy="365760"/>
          </a:xfrm>
          <a:prstGeom prst="rect">
            <a:avLst/>
          </a:prstGeom>
          <a:noFill/>
          <a:ln/>
        </p:spPr>
        <p:txBody>
          <a:bodyPr wrap="square" lIns="0" tIns="0" rIns="0" bIns="0" rtlCol="0" anchor="ctr"/>
          <a:lstStyle/>
          <a:p>
            <a:pPr algn="ctr" indent="0" marL="0">
              <a:buNone/>
            </a:pPr>
            <a:r>
              <a:rPr lang="en-US" sz="1400" dirty="0">
                <a:solidFill>
                  <a:srgbClr val="6B6475"/>
                </a:solidFill>
                <a:latin typeface="Roboto Mono" pitchFamily="34" charset="0"/>
                <a:ea typeface="Roboto Mono" pitchFamily="34" charset="-122"/>
                <a:cs typeface="Roboto Mono" pitchFamily="34" charset="-120"/>
              </a:rPr>
              <a:t>"why is the pod pending?"</a:t>
            </a:r>
            <a:endParaRPr lang="en-US" sz="1400" dirty="0"/>
          </a:p>
        </p:txBody>
      </p:sp>
      <p:sp>
        <p:nvSpPr>
          <p:cNvPr id="27" name="Sparkle"/>
          <p:cNvSpPr/>
          <p:nvPr/>
        </p:nvSpPr>
        <p:spPr>
          <a:xfrm>
            <a:off x="4343400" y="1508760"/>
            <a:ext cx="274320" cy="274320"/>
          </a:xfrm>
          <a:prstGeom prst="star4">
            <a:avLst/>
          </a:prstGeom>
          <a:solidFill>
            <a:srgbClr val="C69FD5"/>
          </a:solidFill>
          <a:ln w="12700">
            <a:solidFill>
              <a:srgbClr val="C69FD5"/>
            </a:solidFill>
            <a:prstDash val="solid"/>
          </a:ln>
        </p:spPr>
      </p:sp>
      <p:sp>
        <p:nvSpPr>
          <p:cNvPr id="25" name="Slide Number Placeholder 0"/>
          <p:cNvSpPr>
            <a:spLocks noGrp="1"/>
          </p:cNvSpPr>
          <p:nvPr>
            <p:ph type="sldNum" sz="quarter" idx="4294967295"/>
          </p:nvPr>
        </p:nvSpPr>
        <p:spPr>
          <a:xfrm>
            <a:off x="112471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647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685800" y="1097280"/>
            <a:ext cx="5577840" cy="1371600"/>
          </a:xfrm>
          <a:prstGeom prst="rect">
            <a:avLst/>
          </a:prstGeom>
          <a:noFill/>
          <a:ln/>
        </p:spPr>
        <p:txBody>
          <a:bodyPr wrap="square" lIns="0" tIns="0" rIns="0" bIns="0" rtlCol="0" anchor="ctr"/>
          <a:lstStyle/>
          <a:p>
            <a:pPr indent="0" marL="0">
              <a:buNone/>
            </a:pPr>
            <a:r>
              <a:rPr lang="en-US" sz="6400" b="1" dirty="0">
                <a:solidFill>
                  <a:srgbClr val="FFFFFF"/>
                </a:solidFill>
                <a:latin typeface="Roboto Mono" pitchFamily="34" charset="0"/>
                <a:ea typeface="Roboto Mono" pitchFamily="34" charset="-122"/>
                <a:cs typeface="Roboto Mono" pitchFamily="34" charset="-120"/>
              </a:rPr>
              <a:t>Demo </a:t>
            </a:r>
            <a:pPr indent="0" marL="0">
              <a:buNone/>
            </a:pPr>
            <a:r>
              <a:rPr lang="en-US" sz="6400" b="1" dirty="0">
                <a:solidFill>
                  <a:srgbClr val="FFBDC5"/>
                </a:solidFill>
                <a:latin typeface="Roboto Mono" pitchFamily="34" charset="0"/>
                <a:ea typeface="Roboto Mono" pitchFamily="34" charset="-122"/>
                <a:cs typeface="Roboto Mono" pitchFamily="34" charset="-120"/>
              </a:rPr>
              <a:t>time</a:t>
            </a:r>
            <a:endParaRPr lang="en-US" sz="6400" dirty="0"/>
          </a:p>
        </p:txBody>
      </p:sp>
      <p:sp>
        <p:nvSpPr>
          <p:cNvPr id="3" name="Text 1"/>
          <p:cNvSpPr txBox="1"/>
          <p:nvPr/>
        </p:nvSpPr>
        <p:spPr>
          <a:xfrm>
            <a:off x="713232" y="2560320"/>
            <a:ext cx="5120640" cy="914400"/>
          </a:xfrm>
          <a:prstGeom prst="rect">
            <a:avLst/>
          </a:prstGeom>
          <a:noFill/>
          <a:ln/>
        </p:spPr>
        <p:txBody>
          <a:bodyPr wrap="square" lIns="0" tIns="0" rIns="0" bIns="0" rtlCol="0" anchor="ctr"/>
          <a:lstStyle/>
          <a:p>
            <a:pPr indent="0" marL="0">
              <a:buNone/>
            </a:pPr>
            <a:r>
              <a:rPr lang="en-US" sz="1600" dirty="0">
                <a:solidFill>
                  <a:srgbClr val="AEB8C8"/>
                </a:solidFill>
              </a:rPr>
              <a:t>Push a commit, watch it go green, land on staging through Argo CD, then show up on the Grafana board.</a:t>
            </a:r>
            <a:endParaRPr lang="en-US" sz="1600" dirty="0"/>
          </a:p>
        </p:txBody>
      </p:sp>
      <p:sp>
        <p:nvSpPr>
          <p:cNvPr id="4" name="Text 2"/>
          <p:cNvSpPr txBox="1"/>
          <p:nvPr/>
        </p:nvSpPr>
        <p:spPr>
          <a:xfrm>
            <a:off x="713232" y="3794760"/>
            <a:ext cx="1188720" cy="347472"/>
          </a:xfrm>
          <a:prstGeom prst="roundRect">
            <a:avLst>
              <a:gd name="adj" fmla="val 131579"/>
            </a:avLst>
          </a:prstGeom>
          <a:solidFill>
            <a:srgbClr val="2A3850"/>
          </a:solidFill>
          <a:ln>
            <a:solidFill>
              <a:srgbClr val="2A3850"/>
            </a:solidFill>
          </a:ln>
        </p:spPr>
        <p:txBody>
          <a:bodyPr wrap="square" lIns="0" tIns="0" rIns="0" bIns="0" rtlCol="0" anchor="ctr"/>
          <a:lstStyle/>
          <a:p>
            <a:pPr algn="ctr" indent="0" marL="0">
              <a:buNone/>
            </a:pPr>
            <a:r>
              <a:rPr lang="en-US" sz="1100" b="1" dirty="0">
                <a:solidFill>
                  <a:srgbClr val="FFBDC5"/>
                </a:solidFill>
                <a:latin typeface="Calibri" pitchFamily="34" charset="0"/>
                <a:ea typeface="Calibri" pitchFamily="34" charset="-122"/>
                <a:cs typeface="Calibri" pitchFamily="34" charset="-120"/>
              </a:rPr>
              <a:t>Code</a:t>
            </a:r>
            <a:endParaRPr lang="en-US" sz="1100" dirty="0"/>
          </a:p>
        </p:txBody>
      </p:sp>
      <p:sp>
        <p:nvSpPr>
          <p:cNvPr id="5" name="Text 3"/>
          <p:cNvSpPr txBox="1"/>
          <p:nvPr/>
        </p:nvSpPr>
        <p:spPr>
          <a:xfrm>
            <a:off x="2103120" y="3794760"/>
            <a:ext cx="3931920" cy="347472"/>
          </a:xfrm>
          <a:prstGeom prst="rect">
            <a:avLst/>
          </a:prstGeom>
          <a:noFill/>
          <a:ln/>
        </p:spPr>
        <p:txBody>
          <a:bodyPr wrap="square" lIns="0" tIns="0" rIns="0" bIns="0" rtlCol="0" anchor="ctr"/>
          <a:lstStyle/>
          <a:p>
            <a:pPr indent="0" marL="0">
              <a:buNone/>
            </a:pPr>
            <a:r>
              <a:rPr lang="en-US" sz="1500" dirty="0">
                <a:solidFill>
                  <a:srgbClr val="FFFFFF"/>
                </a:solidFill>
              </a:rPr>
              <a:t>github.com/Manasvi-247/fellow-hrms</a:t>
            </a:r>
            <a:endParaRPr lang="en-US" sz="1500" dirty="0"/>
          </a:p>
        </p:txBody>
      </p:sp>
      <p:sp>
        <p:nvSpPr>
          <p:cNvPr id="6" name="Text 4"/>
          <p:cNvSpPr txBox="1"/>
          <p:nvPr/>
        </p:nvSpPr>
        <p:spPr>
          <a:xfrm>
            <a:off x="713232" y="4343400"/>
            <a:ext cx="1188720" cy="347472"/>
          </a:xfrm>
          <a:prstGeom prst="roundRect">
            <a:avLst>
              <a:gd name="adj" fmla="val 131579"/>
            </a:avLst>
          </a:prstGeom>
          <a:solidFill>
            <a:srgbClr val="2A3850"/>
          </a:solidFill>
          <a:ln>
            <a:solidFill>
              <a:srgbClr val="2A3850"/>
            </a:solidFill>
          </a:ln>
        </p:spPr>
        <p:txBody>
          <a:bodyPr wrap="square" lIns="0" tIns="0" rIns="0" bIns="0" rtlCol="0" anchor="ctr"/>
          <a:lstStyle/>
          <a:p>
            <a:pPr algn="ctr" indent="0" marL="0">
              <a:buNone/>
            </a:pPr>
            <a:r>
              <a:rPr lang="en-US" sz="1100" b="1" dirty="0">
                <a:solidFill>
                  <a:srgbClr val="FFBDC5"/>
                </a:solidFill>
                <a:latin typeface="Calibri" pitchFamily="34" charset="0"/>
                <a:ea typeface="Calibri" pitchFamily="34" charset="-122"/>
                <a:cs typeface="Calibri" pitchFamily="34" charset="-120"/>
              </a:rPr>
              <a:t>App</a:t>
            </a:r>
            <a:endParaRPr lang="en-US" sz="1100" dirty="0"/>
          </a:p>
        </p:txBody>
      </p:sp>
      <p:sp>
        <p:nvSpPr>
          <p:cNvPr id="7" name="Text 5"/>
          <p:cNvSpPr txBox="1"/>
          <p:nvPr/>
        </p:nvSpPr>
        <p:spPr>
          <a:xfrm>
            <a:off x="2103120" y="4343400"/>
            <a:ext cx="3931920" cy="347472"/>
          </a:xfrm>
          <a:prstGeom prst="rect">
            <a:avLst/>
          </a:prstGeom>
          <a:noFill/>
          <a:ln/>
        </p:spPr>
        <p:txBody>
          <a:bodyPr wrap="square" lIns="0" tIns="0" rIns="0" bIns="0" rtlCol="0" anchor="ctr"/>
          <a:lstStyle/>
          <a:p>
            <a:pPr indent="0" marL="0">
              <a:buNone/>
            </a:pPr>
            <a:r>
              <a:rPr lang="en-US" sz="1500" dirty="0">
                <a:solidFill>
                  <a:srgbClr val="FFFFFF"/>
                </a:solidFill>
              </a:rPr>
              <a:t>fellow.localhost</a:t>
            </a:r>
            <a:endParaRPr lang="en-US" sz="1500" dirty="0"/>
          </a:p>
        </p:txBody>
      </p:sp>
      <p:sp>
        <p:nvSpPr>
          <p:cNvPr id="8" name="Text 6"/>
          <p:cNvSpPr txBox="1"/>
          <p:nvPr/>
        </p:nvSpPr>
        <p:spPr>
          <a:xfrm>
            <a:off x="713232" y="4892040"/>
            <a:ext cx="1188720" cy="347472"/>
          </a:xfrm>
          <a:prstGeom prst="roundRect">
            <a:avLst>
              <a:gd name="adj" fmla="val 131579"/>
            </a:avLst>
          </a:prstGeom>
          <a:solidFill>
            <a:srgbClr val="2A3850"/>
          </a:solidFill>
          <a:ln>
            <a:solidFill>
              <a:srgbClr val="2A3850"/>
            </a:solidFill>
          </a:ln>
        </p:spPr>
        <p:txBody>
          <a:bodyPr wrap="square" lIns="0" tIns="0" rIns="0" bIns="0" rtlCol="0" anchor="ctr"/>
          <a:lstStyle/>
          <a:p>
            <a:pPr algn="ctr" indent="0" marL="0">
              <a:buNone/>
            </a:pPr>
            <a:r>
              <a:rPr lang="en-US" sz="1100" b="1" dirty="0">
                <a:solidFill>
                  <a:srgbClr val="FFBDC5"/>
                </a:solidFill>
                <a:latin typeface="Calibri" pitchFamily="34" charset="0"/>
                <a:ea typeface="Calibri" pitchFamily="34" charset="-122"/>
                <a:cs typeface="Calibri" pitchFamily="34" charset="-120"/>
              </a:rPr>
              <a:t>Metrics</a:t>
            </a:r>
            <a:endParaRPr lang="en-US" sz="1100" dirty="0"/>
          </a:p>
        </p:txBody>
      </p:sp>
      <p:sp>
        <p:nvSpPr>
          <p:cNvPr id="9" name="Text 7"/>
          <p:cNvSpPr txBox="1"/>
          <p:nvPr/>
        </p:nvSpPr>
        <p:spPr>
          <a:xfrm>
            <a:off x="2103120" y="4892040"/>
            <a:ext cx="3931920" cy="347472"/>
          </a:xfrm>
          <a:prstGeom prst="rect">
            <a:avLst/>
          </a:prstGeom>
          <a:noFill/>
          <a:ln/>
        </p:spPr>
        <p:txBody>
          <a:bodyPr wrap="square" lIns="0" tIns="0" rIns="0" bIns="0" rtlCol="0" anchor="ctr"/>
          <a:lstStyle/>
          <a:p>
            <a:pPr indent="0" marL="0">
              <a:buNone/>
            </a:pPr>
            <a:r>
              <a:rPr lang="en-US" sz="1500" dirty="0">
                <a:solidFill>
                  <a:srgbClr val="FFFFFF"/>
                </a:solidFill>
              </a:rPr>
              <a:t>grafana.localhost</a:t>
            </a:r>
            <a:endParaRPr lang="en-US" sz="1500" dirty="0"/>
          </a:p>
        </p:txBody>
      </p:sp>
      <p:sp>
        <p:nvSpPr>
          <p:cNvPr id="10" name="Text 8"/>
          <p:cNvSpPr txBox="1"/>
          <p:nvPr/>
        </p:nvSpPr>
        <p:spPr>
          <a:xfrm>
            <a:off x="713232" y="5440680"/>
            <a:ext cx="1188720" cy="347472"/>
          </a:xfrm>
          <a:prstGeom prst="roundRect">
            <a:avLst>
              <a:gd name="adj" fmla="val 131579"/>
            </a:avLst>
          </a:prstGeom>
          <a:solidFill>
            <a:srgbClr val="2A3850"/>
          </a:solidFill>
          <a:ln>
            <a:solidFill>
              <a:srgbClr val="2A3850"/>
            </a:solidFill>
          </a:ln>
        </p:spPr>
        <p:txBody>
          <a:bodyPr wrap="square" lIns="0" tIns="0" rIns="0" bIns="0" rtlCol="0" anchor="ctr"/>
          <a:lstStyle/>
          <a:p>
            <a:pPr algn="ctr" indent="0" marL="0">
              <a:buNone/>
            </a:pPr>
            <a:r>
              <a:rPr lang="en-US" sz="1100" b="1" dirty="0">
                <a:solidFill>
                  <a:srgbClr val="FFBDC5"/>
                </a:solidFill>
                <a:latin typeface="Calibri" pitchFamily="34" charset="0"/>
                <a:ea typeface="Calibri" pitchFamily="34" charset="-122"/>
                <a:cs typeface="Calibri" pitchFamily="34" charset="-120"/>
              </a:rPr>
              <a:t>GitOps</a:t>
            </a:r>
            <a:endParaRPr lang="en-US" sz="1100" dirty="0"/>
          </a:p>
        </p:txBody>
      </p:sp>
      <p:sp>
        <p:nvSpPr>
          <p:cNvPr id="11" name="Text 9"/>
          <p:cNvSpPr txBox="1"/>
          <p:nvPr/>
        </p:nvSpPr>
        <p:spPr>
          <a:xfrm>
            <a:off x="2103120" y="5440680"/>
            <a:ext cx="3931920" cy="347472"/>
          </a:xfrm>
          <a:prstGeom prst="rect">
            <a:avLst/>
          </a:prstGeom>
          <a:noFill/>
          <a:ln/>
        </p:spPr>
        <p:txBody>
          <a:bodyPr wrap="square" lIns="0" tIns="0" rIns="0" bIns="0" rtlCol="0" anchor="ctr"/>
          <a:lstStyle/>
          <a:p>
            <a:pPr indent="0" marL="0">
              <a:buNone/>
            </a:pPr>
            <a:r>
              <a:rPr lang="en-US" sz="1500" dirty="0">
                <a:solidFill>
                  <a:srgbClr val="FFFFFF"/>
                </a:solidFill>
              </a:rPr>
              <a:t>argocd.localhost</a:t>
            </a:r>
            <a:endParaRPr lang="en-US" sz="1500" dirty="0"/>
          </a:p>
        </p:txBody>
      </p:sp>
      <p:sp>
        <p:nvSpPr>
          <p:cNvPr id="12" name="Text 10"/>
          <p:cNvSpPr txBox="1"/>
          <p:nvPr/>
        </p:nvSpPr>
        <p:spPr>
          <a:xfrm>
            <a:off x="713232" y="6172200"/>
            <a:ext cx="5486400" cy="320040"/>
          </a:xfrm>
          <a:prstGeom prst="rect">
            <a:avLst/>
          </a:prstGeom>
          <a:noFill/>
          <a:ln/>
        </p:spPr>
        <p:txBody>
          <a:bodyPr wrap="square" lIns="0" tIns="0" rIns="0" bIns="0" rtlCol="0" anchor="ctr"/>
          <a:lstStyle/>
          <a:p>
            <a:pPr indent="0" marL="0">
              <a:buNone/>
            </a:pPr>
            <a:r>
              <a:rPr lang="en-US" sz="1200" dirty="0">
                <a:solidFill>
                  <a:srgbClr val="AEB8C8"/>
                </a:solidFill>
              </a:rPr>
              <a:t>Thank you  ·  Manasvi Sabbarwal</a:t>
            </a:r>
            <a:endParaRPr lang="en-US" sz="1200" dirty="0"/>
          </a:p>
        </p:txBody>
      </p:sp>
      <p:sp>
        <p:nvSpPr>
          <p:cNvPr id="13" name="Sticker frame"/>
          <p:cNvSpPr/>
          <p:nvPr/>
        </p:nvSpPr>
        <p:spPr>
          <a:xfrm>
            <a:off x="6355080" y="1600200"/>
            <a:ext cx="5212080" cy="3136392"/>
          </a:xfrm>
          <a:prstGeom prst="roundRect">
            <a:avLst>
              <a:gd name="adj" fmla="val 5248"/>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pic>
        <p:nvPicPr>
          <p:cNvPr id="14" name="Image 0" descr="Illustration">    </p:cNvPr>
          <p:cNvPicPr>
            <a:picLocks noChangeAspect="1"/>
          </p:cNvPicPr>
          <p:nvPr/>
        </p:nvPicPr>
        <p:blipFill>
          <a:blip r:embed="rId1"/>
          <a:stretch>
            <a:fillRect/>
          </a:stretch>
        </p:blipFill>
        <p:spPr>
          <a:xfrm>
            <a:off x="6483096" y="1728216"/>
            <a:ext cx="4956048" cy="2880360"/>
          </a:xfrm>
          <a:prstGeom prst="rect">
            <a:avLst/>
          </a:prstGeom>
        </p:spPr>
      </p:pic>
      <p:sp>
        <p:nvSpPr>
          <p:cNvPr id="15" name="Sparkle"/>
          <p:cNvSpPr/>
          <p:nvPr/>
        </p:nvSpPr>
        <p:spPr>
          <a:xfrm>
            <a:off x="11384280" y="1188720"/>
            <a:ext cx="347472" cy="347472"/>
          </a:xfrm>
          <a:prstGeom prst="star4">
            <a:avLst/>
          </a:prstGeom>
          <a:solidFill>
            <a:srgbClr val="F2C14E"/>
          </a:solidFill>
          <a:ln w="12700">
            <a:solidFill>
              <a:srgbClr val="F2C14E"/>
            </a:solidFill>
            <a:prstDash val="solid"/>
          </a:ln>
        </p:spPr>
      </p:sp>
      <p:sp>
        <p:nvSpPr>
          <p:cNvPr id="16" name="Sparkle"/>
          <p:cNvSpPr/>
          <p:nvPr/>
        </p:nvSpPr>
        <p:spPr>
          <a:xfrm>
            <a:off x="6172200" y="5074920"/>
            <a:ext cx="237744" cy="237744"/>
          </a:xfrm>
          <a:prstGeom prst="star4">
            <a:avLst/>
          </a:prstGeom>
          <a:solidFill>
            <a:srgbClr val="FFBDC5"/>
          </a:solidFill>
          <a:ln w="12700">
            <a:solidFill>
              <a:srgbClr val="FFBDC5"/>
            </a:solidFill>
            <a:prstDash val="solid"/>
          </a:ln>
        </p:spPr>
      </p:sp>
      <p:sp>
        <p:nvSpPr>
          <p:cNvPr id="17" name="Sparkle"/>
          <p:cNvSpPr/>
          <p:nvPr/>
        </p:nvSpPr>
        <p:spPr>
          <a:xfrm>
            <a:off x="10698480" y="5257800"/>
            <a:ext cx="182880" cy="182880"/>
          </a:xfrm>
          <a:prstGeom prst="star4">
            <a:avLst/>
          </a:prstGeom>
          <a:solidFill>
            <a:srgbClr val="C69FD5"/>
          </a:solidFill>
          <a:ln w="12700">
            <a:solidFill>
              <a:srgbClr val="C69FD5"/>
            </a:solidFill>
            <a:prstDash val="solid"/>
          </a:ln>
        </p:spPr>
      </p:sp>
    </p:spTree>
  </p:cSld>
  <p:clrMapOvr>
    <a:masterClrMapping/>
  </p:clrMapOvr>
</p:sld>
</file>

<file path=ppt/theme/theme1.xml><?xml version="1.0" encoding="utf-8"?>
<a:theme xmlns:a="http://schemas.openxmlformats.org/drawingml/2006/main" name="Fellow">
  <a:themeElements>
    <a:clrScheme name="Fellow">
      <a:dk1>
        <a:srgbClr val="1B1A24"/>
      </a:dk1>
      <a:lt1>
        <a:srgbClr val="FFFFFF"/>
      </a:lt1>
      <a:dk2>
        <a:srgbClr val="1F2A3C"/>
      </a:dk2>
      <a:lt2>
        <a:srgbClr val="FFF1F3"/>
      </a:lt2>
      <a:accent1>
        <a:srgbClr val="4C9DB0"/>
      </a:accent1>
      <a:accent2>
        <a:srgbClr val="FFBDC5"/>
      </a:accent2>
      <a:accent3>
        <a:srgbClr val="C69FD5"/>
      </a:accent3>
      <a:accent4>
        <a:srgbClr val="2E7A8C"/>
      </a:accent4>
      <a:accent5>
        <a:srgbClr val="A13C4C"/>
      </a:accent5>
      <a:accent6>
        <a:srgbClr val="F2C14E"/>
      </a:accent6>
      <a:hlink>
        <a:srgbClr val="2E7A8C"/>
      </a:hlink>
      <a:folHlink>
        <a:srgbClr val="A13C4C"/>
      </a:folHlink>
    </a:clrScheme>
    <a:fontScheme name="Fellow">
      <a:majorFont>
        <a:latin typeface="Roboto Mon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Fellow: an HR app shipped the DevOps way</dc:title>
  <dc:subject>PptxGenJS Presentation</dc:subject>
  <dc:creator>Manasvi Sabbarwal</dc:creator>
  <cp:lastModifiedBy>Manasvi Sabbarwal</cp:lastModifiedBy>
  <cp:revision>1</cp:revision>
  <dcterms:created xsi:type="dcterms:W3CDTF">2026-10-15T17:35:11Z</dcterms:created>
  <dcterms:modified xsi:type="dcterms:W3CDTF">2026-10-15T17:35:11Z</dcterms:modified>
</cp:coreProperties>
</file>